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70" r:id="rId14"/>
    <p:sldId id="268" r:id="rId15"/>
    <p:sldId id="2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79888" autoAdjust="0"/>
  </p:normalViewPr>
  <p:slideViewPr>
    <p:cSldViewPr snapToGrid="0">
      <p:cViewPr varScale="1">
        <p:scale>
          <a:sx n="103" d="100"/>
          <a:sy n="103" d="100"/>
        </p:scale>
        <p:origin x="138" y="7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E92774-8CF0-4378-ACBD-60479BAD3D21}" type="datetimeFigureOut">
              <a:rPr lang="en-US" smtClean="0"/>
              <a:t>11/26/2024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F0292D-72D7-456C-9929-CB4047D93566}" type="slidenum">
              <a:rPr lang="en-US" smtClean="0"/>
              <a:t>‹#›</a:t>
            </a:fld>
            <a:endParaRPr lang="en-US"/>
          </a:p>
        </p:txBody>
      </p:sp>
    </p:spTree>
    <p:extLst>
      <p:ext uri="{BB962C8B-B14F-4D97-AF65-F5344CB8AC3E}">
        <p14:creationId xmlns:p14="http://schemas.microsoft.com/office/powerpoint/2010/main" val="2433963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dzsgvcbcvnvc</a:t>
            </a:r>
            <a:endParaRPr lang="en-US" dirty="0"/>
          </a:p>
        </p:txBody>
      </p:sp>
      <p:sp>
        <p:nvSpPr>
          <p:cNvPr id="4" name="Slide Number Placeholder 3"/>
          <p:cNvSpPr>
            <a:spLocks noGrp="1"/>
          </p:cNvSpPr>
          <p:nvPr>
            <p:ph type="sldNum" sz="quarter" idx="5"/>
          </p:nvPr>
        </p:nvSpPr>
        <p:spPr/>
        <p:txBody>
          <a:bodyPr/>
          <a:lstStyle/>
          <a:p>
            <a:fld id="{05F0292D-72D7-456C-9929-CB4047D93566}" type="slidenum">
              <a:rPr lang="en-US" smtClean="0"/>
              <a:t>1</a:t>
            </a:fld>
            <a:endParaRPr lang="en-US"/>
          </a:p>
        </p:txBody>
      </p:sp>
    </p:spTree>
    <p:extLst>
      <p:ext uri="{BB962C8B-B14F-4D97-AF65-F5344CB8AC3E}">
        <p14:creationId xmlns:p14="http://schemas.microsoft.com/office/powerpoint/2010/main" val="10971453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our project after finishing this. We will discuss our project workflow.</a:t>
            </a:r>
          </a:p>
        </p:txBody>
      </p:sp>
      <p:sp>
        <p:nvSpPr>
          <p:cNvPr id="4" name="Slide Number Placeholder 3"/>
          <p:cNvSpPr>
            <a:spLocks noGrp="1"/>
          </p:cNvSpPr>
          <p:nvPr>
            <p:ph type="sldNum" sz="quarter" idx="5"/>
          </p:nvPr>
        </p:nvSpPr>
        <p:spPr/>
        <p:txBody>
          <a:bodyPr/>
          <a:lstStyle/>
          <a:p>
            <a:fld id="{05F0292D-72D7-456C-9929-CB4047D93566}" type="slidenum">
              <a:rPr lang="en-US" smtClean="0"/>
              <a:t>2</a:t>
            </a:fld>
            <a:endParaRPr lang="en-US"/>
          </a:p>
        </p:txBody>
      </p:sp>
    </p:spTree>
    <p:extLst>
      <p:ext uri="{BB962C8B-B14F-4D97-AF65-F5344CB8AC3E}">
        <p14:creationId xmlns:p14="http://schemas.microsoft.com/office/powerpoint/2010/main" val="4146428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F0292D-72D7-456C-9929-CB4047D93566}" type="slidenum">
              <a:rPr lang="en-US" smtClean="0"/>
              <a:t>3</a:t>
            </a:fld>
            <a:endParaRPr lang="en-US"/>
          </a:p>
        </p:txBody>
      </p:sp>
    </p:spTree>
    <p:extLst>
      <p:ext uri="{BB962C8B-B14F-4D97-AF65-F5344CB8AC3E}">
        <p14:creationId xmlns:p14="http://schemas.microsoft.com/office/powerpoint/2010/main" val="27534083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DCT = </a:t>
            </a:r>
            <a:r>
              <a:rPr lang="en-US" sz="1800" b="0" i="0" u="none" strike="noStrike" baseline="0" dirty="0">
                <a:latin typeface="ArialMT"/>
              </a:rPr>
              <a:t>Discrete Cosine Transform  MFCC = Mel-Frequency Cepstral Coefficients</a:t>
            </a:r>
            <a:endParaRPr lang="en-US" dirty="0"/>
          </a:p>
        </p:txBody>
      </p:sp>
      <p:sp>
        <p:nvSpPr>
          <p:cNvPr id="4" name="Slide Number Placeholder 3"/>
          <p:cNvSpPr>
            <a:spLocks noGrp="1"/>
          </p:cNvSpPr>
          <p:nvPr>
            <p:ph type="sldNum" sz="quarter" idx="5"/>
          </p:nvPr>
        </p:nvSpPr>
        <p:spPr/>
        <p:txBody>
          <a:bodyPr/>
          <a:lstStyle/>
          <a:p>
            <a:fld id="{05F0292D-72D7-456C-9929-CB4047D93566}" type="slidenum">
              <a:rPr lang="en-US" smtClean="0"/>
              <a:t>4</a:t>
            </a:fld>
            <a:endParaRPr lang="en-US"/>
          </a:p>
        </p:txBody>
      </p:sp>
    </p:spTree>
    <p:extLst>
      <p:ext uri="{BB962C8B-B14F-4D97-AF65-F5344CB8AC3E}">
        <p14:creationId xmlns:p14="http://schemas.microsoft.com/office/powerpoint/2010/main" val="12483701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provided with labeled input data (x features), values to predict (Y variable). So we will not use unsupervised algorithm.</a:t>
            </a:r>
          </a:p>
        </p:txBody>
      </p:sp>
      <p:sp>
        <p:nvSpPr>
          <p:cNvPr id="4" name="Slide Number Placeholder 3"/>
          <p:cNvSpPr>
            <a:spLocks noGrp="1"/>
          </p:cNvSpPr>
          <p:nvPr>
            <p:ph type="sldNum" sz="quarter" idx="5"/>
          </p:nvPr>
        </p:nvSpPr>
        <p:spPr/>
        <p:txBody>
          <a:bodyPr/>
          <a:lstStyle/>
          <a:p>
            <a:fld id="{05F0292D-72D7-456C-9929-CB4047D93566}" type="slidenum">
              <a:rPr lang="en-US" smtClean="0"/>
              <a:t>6</a:t>
            </a:fld>
            <a:endParaRPr lang="en-US"/>
          </a:p>
        </p:txBody>
      </p:sp>
    </p:spTree>
    <p:extLst>
      <p:ext uri="{BB962C8B-B14F-4D97-AF65-F5344CB8AC3E}">
        <p14:creationId xmlns:p14="http://schemas.microsoft.com/office/powerpoint/2010/main" val="26229251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61616"/>
                </a:solidFill>
                <a:effectLst/>
                <a:latin typeface="IBM Plex Sans" panose="020F0502020204030204" pitchFamily="34" charset="0"/>
              </a:rPr>
              <a:t>Logistic regression estimates the probability of an event occurring, such as voted or didn’t vote, based on a given data set of independent variables. </a:t>
            </a:r>
          </a:p>
          <a:p>
            <a:endParaRPr lang="en-US" b="0" i="0" dirty="0">
              <a:solidFill>
                <a:srgbClr val="161616"/>
              </a:solidFill>
              <a:effectLst/>
              <a:latin typeface="IBM Plex Sans" panose="020F0502020204030204" pitchFamily="34" charset="0"/>
            </a:endParaRPr>
          </a:p>
          <a:p>
            <a:pPr algn="l" fontAlgn="base"/>
            <a:r>
              <a:rPr lang="en-US" b="1" i="0" dirty="0">
                <a:solidFill>
                  <a:srgbClr val="FFFFFF"/>
                </a:solidFill>
                <a:effectLst/>
                <a:latin typeface="Nunito" pitchFamily="2" charset="0"/>
              </a:rPr>
              <a:t>Logistic Function – Sigmoid Function</a:t>
            </a:r>
          </a:p>
          <a:p>
            <a:pPr algn="l" fontAlgn="base">
              <a:spcAft>
                <a:spcPts val="1800"/>
              </a:spcAft>
              <a:buFont typeface="Arial" panose="020B0604020202020204" pitchFamily="34" charset="0"/>
              <a:buChar char="•"/>
            </a:pPr>
            <a:r>
              <a:rPr lang="en-US" b="0" i="0" dirty="0">
                <a:solidFill>
                  <a:srgbClr val="FFFFFF"/>
                </a:solidFill>
                <a:effectLst/>
                <a:latin typeface="Nunito" pitchFamily="2" charset="0"/>
              </a:rPr>
              <a:t>The sigmoid function is a mathematical function used to map the predicted values to probabilities.</a:t>
            </a:r>
          </a:p>
          <a:p>
            <a:pPr algn="l" fontAlgn="base">
              <a:spcAft>
                <a:spcPts val="1800"/>
              </a:spcAft>
              <a:buFont typeface="Arial" panose="020B0604020202020204" pitchFamily="34" charset="0"/>
              <a:buChar char="•"/>
            </a:pPr>
            <a:r>
              <a:rPr lang="en-US" b="0" i="0" dirty="0">
                <a:solidFill>
                  <a:srgbClr val="FFFFFF"/>
                </a:solidFill>
                <a:effectLst/>
                <a:latin typeface="Nunito" pitchFamily="2" charset="0"/>
              </a:rPr>
              <a:t>It maps any real value into another value within a range of 0 and 1. The value of the logistic regression must be between 0 and 1, which cannot go beyond this limit, so it forms a curve like the “S” form.</a:t>
            </a:r>
          </a:p>
          <a:p>
            <a:pPr algn="l" fontAlgn="base">
              <a:spcAft>
                <a:spcPts val="1800"/>
              </a:spcAft>
              <a:buFont typeface="Arial" panose="020B0604020202020204" pitchFamily="34" charset="0"/>
              <a:buChar char="•"/>
            </a:pPr>
            <a:r>
              <a:rPr lang="en-US" b="0" i="0" dirty="0">
                <a:solidFill>
                  <a:srgbClr val="FFFFFF"/>
                </a:solidFill>
                <a:effectLst/>
                <a:latin typeface="Nunito" pitchFamily="2" charset="0"/>
              </a:rPr>
              <a:t>The S-form curve is called the Sigmoid function or the logistic function.</a:t>
            </a:r>
          </a:p>
          <a:p>
            <a:pPr algn="l" fontAlgn="base">
              <a:spcAft>
                <a:spcPts val="1800"/>
              </a:spcAft>
              <a:buFont typeface="Arial" panose="020B0604020202020204" pitchFamily="34" charset="0"/>
              <a:buChar char="•"/>
            </a:pPr>
            <a:r>
              <a:rPr lang="en-US" b="0" i="0" dirty="0">
                <a:solidFill>
                  <a:srgbClr val="FFFFFF"/>
                </a:solidFill>
                <a:effectLst/>
                <a:latin typeface="Nunito" pitchFamily="2" charset="0"/>
              </a:rPr>
              <a:t>In logistic regression, we use the concept of the threshold value, which defines the probability of either 0 or 1. Such as values above the threshold value tends to 1, and a value below the threshold values tends to 0.</a:t>
            </a:r>
          </a:p>
          <a:p>
            <a:endParaRPr lang="en-US" dirty="0"/>
          </a:p>
        </p:txBody>
      </p:sp>
      <p:sp>
        <p:nvSpPr>
          <p:cNvPr id="4" name="Slide Number Placeholder 3"/>
          <p:cNvSpPr>
            <a:spLocks noGrp="1"/>
          </p:cNvSpPr>
          <p:nvPr>
            <p:ph type="sldNum" sz="quarter" idx="5"/>
          </p:nvPr>
        </p:nvSpPr>
        <p:spPr/>
        <p:txBody>
          <a:bodyPr/>
          <a:lstStyle/>
          <a:p>
            <a:fld id="{05F0292D-72D7-456C-9929-CB4047D93566}" type="slidenum">
              <a:rPr lang="en-US" smtClean="0"/>
              <a:t>7</a:t>
            </a:fld>
            <a:endParaRPr lang="en-US"/>
          </a:p>
        </p:txBody>
      </p:sp>
    </p:spTree>
    <p:extLst>
      <p:ext uri="{BB962C8B-B14F-4D97-AF65-F5344CB8AC3E}">
        <p14:creationId xmlns:p14="http://schemas.microsoft.com/office/powerpoint/2010/main" val="324960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CE8FF23-F505-4390-85E9-E69C91E38A59}"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216480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E8FF23-F505-4390-85E9-E69C91E38A59}"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2646045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E8FF23-F505-4390-85E9-E69C91E38A59}"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1441189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CE8FF23-F505-4390-85E9-E69C91E38A59}" type="datetimeFigureOut">
              <a:rPr lang="en-US" smtClean="0"/>
              <a:t>11/26/2024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3593215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CE8FF23-F505-4390-85E9-E69C91E38A59}" type="datetimeFigureOut">
              <a:rPr lang="en-US" smtClean="0"/>
              <a:t>11/26/2024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2748361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CE8FF23-F505-4390-85E9-E69C91E38A59}" type="datetimeFigureOut">
              <a:rPr lang="en-US" smtClean="0"/>
              <a:t>11/26/2024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3962404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E8FF23-F505-4390-85E9-E69C91E38A59}" type="datetimeFigureOut">
              <a:rPr lang="en-US" smtClean="0"/>
              <a:t>11/26/2024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3680080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E8FF23-F505-4390-85E9-E69C91E38A59}" type="datetimeFigureOut">
              <a:rPr lang="en-US" smtClean="0"/>
              <a:t>11/26/2024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1671136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E8FF23-F505-4390-85E9-E69C91E38A59}" type="datetimeFigureOut">
              <a:rPr lang="en-US" smtClean="0"/>
              <a:t>11/26/2024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428630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E8FF23-F505-4390-85E9-E69C91E38A59}"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2595808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E8FF23-F505-4390-85E9-E69C91E38A59}"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2D8A97B-3EA5-48E7-A681-D2E92C497CD5}"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499933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CE8FF23-F505-4390-85E9-E69C91E38A59}" type="datetimeFigureOut">
              <a:rPr lang="en-US" smtClean="0"/>
              <a:t>11/26/2024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32855681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CE8FF23-F505-4390-85E9-E69C91E38A59}" type="datetimeFigureOut">
              <a:rPr lang="en-US" smtClean="0"/>
              <a:t>11/26/2024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2D8A97B-3EA5-48E7-A681-D2E92C497CD5}"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216972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CE8FF23-F505-4390-85E9-E69C91E38A59}" type="datetimeFigureOut">
              <a:rPr lang="en-US" smtClean="0"/>
              <a:t>11/26/2024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24731838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E8FF23-F505-4390-85E9-E69C91E38A59}"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6888782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E8FF23-F505-4390-85E9-E69C91E38A59}"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254394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CE8FF23-F505-4390-85E9-E69C91E38A59}" type="datetimeFigureOut">
              <a:rPr lang="en-US" smtClean="0"/>
              <a:t>11/26/2024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2D8A97B-3EA5-48E7-A681-D2E92C497CD5}" type="slidenum">
              <a:rPr lang="en-US" smtClean="0"/>
              <a:t>‹#›</a:t>
            </a:fld>
            <a:endParaRPr lang="en-US"/>
          </a:p>
        </p:txBody>
      </p:sp>
    </p:spTree>
    <p:extLst>
      <p:ext uri="{BB962C8B-B14F-4D97-AF65-F5344CB8AC3E}">
        <p14:creationId xmlns:p14="http://schemas.microsoft.com/office/powerpoint/2010/main" val="25516134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ACE52A1-3A06-3A36-8A10-0FAEAF36078E}"/>
              </a:ext>
            </a:extLst>
          </p:cNvPr>
          <p:cNvSpPr txBox="1"/>
          <p:nvPr/>
        </p:nvSpPr>
        <p:spPr>
          <a:xfrm>
            <a:off x="2192693" y="1014873"/>
            <a:ext cx="8248261" cy="769441"/>
          </a:xfrm>
          <a:prstGeom prst="rect">
            <a:avLst/>
          </a:prstGeom>
          <a:noFill/>
        </p:spPr>
        <p:txBody>
          <a:bodyPr wrap="square" rtlCol="0">
            <a:spAutoFit/>
          </a:bodyPr>
          <a:lstStyle/>
          <a:p>
            <a:r>
              <a:rPr lang="en-US" sz="4400" b="1" dirty="0"/>
              <a:t>Speech Recognition System</a:t>
            </a:r>
          </a:p>
        </p:txBody>
      </p:sp>
      <p:cxnSp>
        <p:nvCxnSpPr>
          <p:cNvPr id="6" name="Straight Connector 5">
            <a:extLst>
              <a:ext uri="{FF2B5EF4-FFF2-40B4-BE49-F238E27FC236}">
                <a16:creationId xmlns:a16="http://schemas.microsoft.com/office/drawing/2014/main" id="{6E068E89-0F35-9011-CDB1-22D33C4CA98C}"/>
              </a:ext>
            </a:extLst>
          </p:cNvPr>
          <p:cNvCxnSpPr/>
          <p:nvPr/>
        </p:nvCxnSpPr>
        <p:spPr>
          <a:xfrm>
            <a:off x="1091682" y="2052735"/>
            <a:ext cx="10450285" cy="0"/>
          </a:xfrm>
          <a:prstGeom prst="line">
            <a:avLst/>
          </a:prstGeom>
        </p:spPr>
        <p:style>
          <a:lnRef idx="3">
            <a:schemeClr val="accent3"/>
          </a:lnRef>
          <a:fillRef idx="0">
            <a:schemeClr val="accent3"/>
          </a:fillRef>
          <a:effectRef idx="2">
            <a:schemeClr val="accent3"/>
          </a:effectRef>
          <a:fontRef idx="minor">
            <a:schemeClr val="tx1"/>
          </a:fontRef>
        </p:style>
      </p:cxnSp>
      <p:graphicFrame>
        <p:nvGraphicFramePr>
          <p:cNvPr id="7" name="Table 6">
            <a:extLst>
              <a:ext uri="{FF2B5EF4-FFF2-40B4-BE49-F238E27FC236}">
                <a16:creationId xmlns:a16="http://schemas.microsoft.com/office/drawing/2014/main" id="{0570C240-ED5E-0E80-D7C7-ACA33E6B62CC}"/>
              </a:ext>
            </a:extLst>
          </p:cNvPr>
          <p:cNvGraphicFramePr>
            <a:graphicFrameLocks noGrp="1"/>
          </p:cNvGraphicFramePr>
          <p:nvPr>
            <p:extLst>
              <p:ext uri="{D42A27DB-BD31-4B8C-83A1-F6EECF244321}">
                <p14:modId xmlns:p14="http://schemas.microsoft.com/office/powerpoint/2010/main" val="2202851678"/>
              </p:ext>
            </p:extLst>
          </p:nvPr>
        </p:nvGraphicFramePr>
        <p:xfrm>
          <a:off x="3161004" y="4063585"/>
          <a:ext cx="8128000" cy="1483360"/>
        </p:xfrm>
        <a:graphic>
          <a:graphicData uri="http://schemas.openxmlformats.org/drawingml/2006/table">
            <a:tbl>
              <a:tblPr firstRow="1" bandRow="1">
                <a:tableStyleId>{616DA210-FB5B-4158-B5E0-FEB733F419BA}</a:tableStyleId>
              </a:tblPr>
              <a:tblGrid>
                <a:gridCol w="4064000">
                  <a:extLst>
                    <a:ext uri="{9D8B030D-6E8A-4147-A177-3AD203B41FA5}">
                      <a16:colId xmlns:a16="http://schemas.microsoft.com/office/drawing/2014/main" val="4234416435"/>
                    </a:ext>
                  </a:extLst>
                </a:gridCol>
                <a:gridCol w="4064000">
                  <a:extLst>
                    <a:ext uri="{9D8B030D-6E8A-4147-A177-3AD203B41FA5}">
                      <a16:colId xmlns:a16="http://schemas.microsoft.com/office/drawing/2014/main" val="1073919891"/>
                    </a:ext>
                  </a:extLst>
                </a:gridCol>
              </a:tblGrid>
              <a:tr h="370840">
                <a:tc>
                  <a:txBody>
                    <a:bodyPr/>
                    <a:lstStyle/>
                    <a:p>
                      <a:pPr algn="ctr"/>
                      <a:r>
                        <a:rPr lang="en-US" dirty="0"/>
                        <a:t>Name</a:t>
                      </a:r>
                    </a:p>
                  </a:txBody>
                  <a:tcPr/>
                </a:tc>
                <a:tc>
                  <a:txBody>
                    <a:bodyPr/>
                    <a:lstStyle/>
                    <a:p>
                      <a:pPr algn="ctr"/>
                      <a:r>
                        <a:rPr lang="en-US" dirty="0"/>
                        <a:t>ID</a:t>
                      </a:r>
                    </a:p>
                  </a:txBody>
                  <a:tcPr/>
                </a:tc>
                <a:extLst>
                  <a:ext uri="{0D108BD9-81ED-4DB2-BD59-A6C34878D82A}">
                    <a16:rowId xmlns:a16="http://schemas.microsoft.com/office/drawing/2014/main" val="3767629112"/>
                  </a:ext>
                </a:extLst>
              </a:tr>
              <a:tr h="370840">
                <a:tc>
                  <a:txBody>
                    <a:bodyPr/>
                    <a:lstStyle/>
                    <a:p>
                      <a:pPr algn="ctr"/>
                      <a:r>
                        <a:rPr lang="en-US" dirty="0"/>
                        <a:t>Tanvir Ahmed</a:t>
                      </a:r>
                    </a:p>
                  </a:txBody>
                  <a:tcPr/>
                </a:tc>
                <a:tc>
                  <a:txBody>
                    <a:bodyPr/>
                    <a:lstStyle/>
                    <a:p>
                      <a:pPr algn="ctr"/>
                      <a:r>
                        <a:rPr lang="en-US" dirty="0"/>
                        <a:t>2031105642</a:t>
                      </a:r>
                    </a:p>
                  </a:txBody>
                  <a:tcPr/>
                </a:tc>
                <a:extLst>
                  <a:ext uri="{0D108BD9-81ED-4DB2-BD59-A6C34878D82A}">
                    <a16:rowId xmlns:a16="http://schemas.microsoft.com/office/drawing/2014/main" val="2502061551"/>
                  </a:ext>
                </a:extLst>
              </a:tr>
              <a:tr h="370840">
                <a:tc>
                  <a:txBody>
                    <a:bodyPr/>
                    <a:lstStyle/>
                    <a:p>
                      <a:pPr algn="ctr"/>
                      <a:r>
                        <a:rPr lang="en-US" dirty="0"/>
                        <a:t>Shahjalal Hossain </a:t>
                      </a:r>
                    </a:p>
                  </a:txBody>
                  <a:tcPr/>
                </a:tc>
                <a:tc>
                  <a:txBody>
                    <a:bodyPr/>
                    <a:lstStyle/>
                    <a:p>
                      <a:pPr algn="ctr"/>
                      <a:r>
                        <a:rPr lang="en-US" dirty="0"/>
                        <a:t>2021661642</a:t>
                      </a:r>
                    </a:p>
                  </a:txBody>
                  <a:tcPr/>
                </a:tc>
                <a:extLst>
                  <a:ext uri="{0D108BD9-81ED-4DB2-BD59-A6C34878D82A}">
                    <a16:rowId xmlns:a16="http://schemas.microsoft.com/office/drawing/2014/main" val="3734378020"/>
                  </a:ext>
                </a:extLst>
              </a:tr>
              <a:tr h="370840">
                <a:tc>
                  <a:txBody>
                    <a:bodyPr/>
                    <a:lstStyle/>
                    <a:p>
                      <a:pPr algn="ctr"/>
                      <a:r>
                        <a:rPr lang="en-US" dirty="0"/>
                        <a:t>Saleh Sazzad</a:t>
                      </a:r>
                    </a:p>
                  </a:txBody>
                  <a:tcPr/>
                </a:tc>
                <a:tc>
                  <a:txBody>
                    <a:bodyPr/>
                    <a:lstStyle/>
                    <a:p>
                      <a:pPr algn="ctr"/>
                      <a:r>
                        <a:rPr lang="en-US" dirty="0"/>
                        <a:t>2021735642</a:t>
                      </a:r>
                    </a:p>
                  </a:txBody>
                  <a:tcPr/>
                </a:tc>
                <a:extLst>
                  <a:ext uri="{0D108BD9-81ED-4DB2-BD59-A6C34878D82A}">
                    <a16:rowId xmlns:a16="http://schemas.microsoft.com/office/drawing/2014/main" val="1056186120"/>
                  </a:ext>
                </a:extLst>
              </a:tr>
            </a:tbl>
          </a:graphicData>
        </a:graphic>
      </p:graphicFrame>
      <p:sp>
        <p:nvSpPr>
          <p:cNvPr id="8" name="TextBox 7">
            <a:extLst>
              <a:ext uri="{FF2B5EF4-FFF2-40B4-BE49-F238E27FC236}">
                <a16:creationId xmlns:a16="http://schemas.microsoft.com/office/drawing/2014/main" id="{22ACF60F-F3FE-F59F-A6F8-77D503030379}"/>
              </a:ext>
            </a:extLst>
          </p:cNvPr>
          <p:cNvSpPr txBox="1"/>
          <p:nvPr/>
        </p:nvSpPr>
        <p:spPr>
          <a:xfrm>
            <a:off x="2330580" y="3359020"/>
            <a:ext cx="1065764" cy="461665"/>
          </a:xfrm>
          <a:prstGeom prst="rect">
            <a:avLst/>
          </a:prstGeom>
          <a:noFill/>
        </p:spPr>
        <p:txBody>
          <a:bodyPr wrap="square" rtlCol="0">
            <a:spAutoFit/>
          </a:bodyPr>
          <a:lstStyle/>
          <a:p>
            <a:r>
              <a:rPr lang="en-US" sz="2400" dirty="0"/>
              <a:t>By</a:t>
            </a:r>
          </a:p>
        </p:txBody>
      </p:sp>
    </p:spTree>
    <p:extLst>
      <p:ext uri="{BB962C8B-B14F-4D97-AF65-F5344CB8AC3E}">
        <p14:creationId xmlns:p14="http://schemas.microsoft.com/office/powerpoint/2010/main" val="1021806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55539-92EF-E125-94EF-8DDD45FBCFFF}"/>
              </a:ext>
            </a:extLst>
          </p:cNvPr>
          <p:cNvSpPr>
            <a:spLocks noGrp="1"/>
          </p:cNvSpPr>
          <p:nvPr>
            <p:ph type="title"/>
          </p:nvPr>
        </p:nvSpPr>
        <p:spPr>
          <a:xfrm>
            <a:off x="1640156" y="605448"/>
            <a:ext cx="8911687" cy="1280890"/>
          </a:xfrm>
        </p:spPr>
        <p:txBody>
          <a:bodyPr>
            <a:normAutofit/>
          </a:bodyPr>
          <a:lstStyle/>
          <a:p>
            <a:pPr algn="ctr"/>
            <a:r>
              <a:rPr lang="en-US" sz="5400" b="1" dirty="0"/>
              <a:t>Introduction</a:t>
            </a:r>
          </a:p>
        </p:txBody>
      </p:sp>
      <p:sp>
        <p:nvSpPr>
          <p:cNvPr id="4" name="TextBox 3">
            <a:extLst>
              <a:ext uri="{FF2B5EF4-FFF2-40B4-BE49-F238E27FC236}">
                <a16:creationId xmlns:a16="http://schemas.microsoft.com/office/drawing/2014/main" id="{C8EFDFC5-B8A8-558D-56F6-B647A82CABBA}"/>
              </a:ext>
            </a:extLst>
          </p:cNvPr>
          <p:cNvSpPr txBox="1"/>
          <p:nvPr/>
        </p:nvSpPr>
        <p:spPr>
          <a:xfrm>
            <a:off x="1866122" y="1886338"/>
            <a:ext cx="8985380" cy="3108543"/>
          </a:xfrm>
          <a:prstGeom prst="rect">
            <a:avLst/>
          </a:prstGeom>
          <a:noFill/>
        </p:spPr>
        <p:txBody>
          <a:bodyPr wrap="square" rtlCol="0">
            <a:spAutoFit/>
          </a:bodyPr>
          <a:lstStyle/>
          <a:p>
            <a:pPr algn="just"/>
            <a:r>
              <a:rPr lang="en-US" sz="2800" b="0" i="0" dirty="0">
                <a:solidFill>
                  <a:srgbClr val="242424"/>
                </a:solidFill>
                <a:effectLst/>
                <a:latin typeface="Segoe UI" panose="020B0502040204020203" pitchFamily="34" charset="0"/>
                <a:cs typeface="Segoe UI" panose="020B0502040204020203" pitchFamily="34" charset="0"/>
              </a:rPr>
              <a:t>Speech recognition technology is a technology that allows machines to convert voice signals into corresponding text or commands through the process of recognition and understanding. </a:t>
            </a:r>
          </a:p>
          <a:p>
            <a:pPr algn="just"/>
            <a:endParaRPr lang="en-US" sz="2800" dirty="0">
              <a:solidFill>
                <a:srgbClr val="242424"/>
              </a:solidFill>
              <a:latin typeface="Segoe UI" panose="020B0502040204020203" pitchFamily="34" charset="0"/>
              <a:cs typeface="Segoe UI" panose="020B0502040204020203" pitchFamily="34" charset="0"/>
            </a:endParaRPr>
          </a:p>
          <a:p>
            <a:pPr algn="just"/>
            <a:r>
              <a:rPr lang="en-US" sz="2800" dirty="0">
                <a:solidFill>
                  <a:srgbClr val="242424"/>
                </a:solidFill>
                <a:latin typeface="Segoe UI" panose="020B0502040204020203" pitchFamily="34" charset="0"/>
                <a:cs typeface="Segoe UI" panose="020B0502040204020203" pitchFamily="34" charset="0"/>
              </a:rPr>
              <a:t>S</a:t>
            </a:r>
            <a:r>
              <a:rPr lang="en-US" sz="2800" b="0" i="0" dirty="0">
                <a:solidFill>
                  <a:srgbClr val="242424"/>
                </a:solidFill>
                <a:effectLst/>
                <a:latin typeface="Segoe UI" panose="020B0502040204020203" pitchFamily="34" charset="0"/>
                <a:cs typeface="Segoe UI" panose="020B0502040204020203" pitchFamily="34" charset="0"/>
              </a:rPr>
              <a:t>peech recognition technology can be used to identify specific person from their speech.</a:t>
            </a:r>
            <a:endParaRPr lang="en-US" sz="2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67188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7C70B-4884-E93A-7F6F-F996E1EB6874}"/>
              </a:ext>
            </a:extLst>
          </p:cNvPr>
          <p:cNvSpPr>
            <a:spLocks noGrp="1"/>
          </p:cNvSpPr>
          <p:nvPr>
            <p:ph type="title"/>
          </p:nvPr>
        </p:nvSpPr>
        <p:spPr/>
        <p:txBody>
          <a:bodyPr>
            <a:normAutofit/>
          </a:bodyPr>
          <a:lstStyle/>
          <a:p>
            <a:r>
              <a:rPr lang="en-US" sz="4400" dirty="0">
                <a:latin typeface="Arial" panose="020B0604020202020204" pitchFamily="34" charset="0"/>
                <a:cs typeface="Arial" panose="020B0604020202020204" pitchFamily="34" charset="0"/>
              </a:rPr>
              <a:t>How do our system works?</a:t>
            </a:r>
          </a:p>
        </p:txBody>
      </p:sp>
      <p:sp>
        <p:nvSpPr>
          <p:cNvPr id="5" name="TextBox 4">
            <a:extLst>
              <a:ext uri="{FF2B5EF4-FFF2-40B4-BE49-F238E27FC236}">
                <a16:creationId xmlns:a16="http://schemas.microsoft.com/office/drawing/2014/main" id="{3C3D01C4-C338-A42E-0E9D-AD66C26FD470}"/>
              </a:ext>
            </a:extLst>
          </p:cNvPr>
          <p:cNvSpPr txBox="1"/>
          <p:nvPr/>
        </p:nvSpPr>
        <p:spPr>
          <a:xfrm>
            <a:off x="942392" y="1791478"/>
            <a:ext cx="1492898" cy="369332"/>
          </a:xfrm>
          <a:prstGeom prst="rect">
            <a:avLst/>
          </a:prstGeom>
          <a:noFill/>
        </p:spPr>
        <p:txBody>
          <a:bodyPr wrap="square" rtlCol="0">
            <a:spAutoFit/>
          </a:bodyPr>
          <a:lstStyle/>
          <a:p>
            <a:r>
              <a:rPr lang="en-US" dirty="0"/>
              <a:t>Speech</a:t>
            </a:r>
          </a:p>
        </p:txBody>
      </p:sp>
      <p:pic>
        <p:nvPicPr>
          <p:cNvPr id="8" name="Picture 7">
            <a:extLst>
              <a:ext uri="{FF2B5EF4-FFF2-40B4-BE49-F238E27FC236}">
                <a16:creationId xmlns:a16="http://schemas.microsoft.com/office/drawing/2014/main" id="{39807978-B95E-873E-A7B2-80075EF16BA6}"/>
              </a:ext>
            </a:extLst>
          </p:cNvPr>
          <p:cNvPicPr>
            <a:picLocks noChangeAspect="1"/>
          </p:cNvPicPr>
          <p:nvPr/>
        </p:nvPicPr>
        <p:blipFill>
          <a:blip r:embed="rId3"/>
          <a:stretch>
            <a:fillRect/>
          </a:stretch>
        </p:blipFill>
        <p:spPr>
          <a:xfrm>
            <a:off x="2008450" y="1632099"/>
            <a:ext cx="1168949" cy="751897"/>
          </a:xfrm>
          <a:prstGeom prst="rect">
            <a:avLst/>
          </a:prstGeom>
        </p:spPr>
      </p:pic>
      <p:cxnSp>
        <p:nvCxnSpPr>
          <p:cNvPr id="10" name="Straight Arrow Connector 9">
            <a:extLst>
              <a:ext uri="{FF2B5EF4-FFF2-40B4-BE49-F238E27FC236}">
                <a16:creationId xmlns:a16="http://schemas.microsoft.com/office/drawing/2014/main" id="{CA8F57F0-0D2E-4DC5-A538-F09725F593E9}"/>
              </a:ext>
            </a:extLst>
          </p:cNvPr>
          <p:cNvCxnSpPr>
            <a:stCxn id="8" idx="3"/>
          </p:cNvCxnSpPr>
          <p:nvPr/>
        </p:nvCxnSpPr>
        <p:spPr>
          <a:xfrm flipV="1">
            <a:off x="3177399" y="2008047"/>
            <a:ext cx="1002715"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 name="Rectangle: Rounded Corners 10">
            <a:extLst>
              <a:ext uri="{FF2B5EF4-FFF2-40B4-BE49-F238E27FC236}">
                <a16:creationId xmlns:a16="http://schemas.microsoft.com/office/drawing/2014/main" id="{048DE18A-C148-47A1-8E24-2263653D25BB}"/>
              </a:ext>
            </a:extLst>
          </p:cNvPr>
          <p:cNvSpPr/>
          <p:nvPr/>
        </p:nvSpPr>
        <p:spPr>
          <a:xfrm>
            <a:off x="4185104" y="1658148"/>
            <a:ext cx="2420969" cy="75189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Pre-processing</a:t>
            </a:r>
          </a:p>
        </p:txBody>
      </p:sp>
      <p:cxnSp>
        <p:nvCxnSpPr>
          <p:cNvPr id="12" name="Straight Arrow Connector 11">
            <a:extLst>
              <a:ext uri="{FF2B5EF4-FFF2-40B4-BE49-F238E27FC236}">
                <a16:creationId xmlns:a16="http://schemas.microsoft.com/office/drawing/2014/main" id="{25FD0804-7F45-B01C-9CD0-9CF63BDD9461}"/>
              </a:ext>
            </a:extLst>
          </p:cNvPr>
          <p:cNvCxnSpPr/>
          <p:nvPr/>
        </p:nvCxnSpPr>
        <p:spPr>
          <a:xfrm flipV="1">
            <a:off x="6606073" y="1982001"/>
            <a:ext cx="1002715"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Rectangle: Rounded Corners 12">
            <a:extLst>
              <a:ext uri="{FF2B5EF4-FFF2-40B4-BE49-F238E27FC236}">
                <a16:creationId xmlns:a16="http://schemas.microsoft.com/office/drawing/2014/main" id="{B00BD6B9-2EA3-97F2-DDC1-F7342C66FF48}"/>
              </a:ext>
            </a:extLst>
          </p:cNvPr>
          <p:cNvSpPr/>
          <p:nvPr/>
        </p:nvSpPr>
        <p:spPr>
          <a:xfrm>
            <a:off x="7613778" y="1632102"/>
            <a:ext cx="2420969" cy="75189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Feature Extraction</a:t>
            </a:r>
          </a:p>
        </p:txBody>
      </p:sp>
      <p:cxnSp>
        <p:nvCxnSpPr>
          <p:cNvPr id="27" name="Straight Arrow Connector 26">
            <a:extLst>
              <a:ext uri="{FF2B5EF4-FFF2-40B4-BE49-F238E27FC236}">
                <a16:creationId xmlns:a16="http://schemas.microsoft.com/office/drawing/2014/main" id="{B54AA834-1530-67D2-CE97-B3DB335CBA7B}"/>
              </a:ext>
            </a:extLst>
          </p:cNvPr>
          <p:cNvCxnSpPr>
            <a:stCxn id="13" idx="2"/>
          </p:cNvCxnSpPr>
          <p:nvPr/>
        </p:nvCxnSpPr>
        <p:spPr>
          <a:xfrm flipH="1">
            <a:off x="8824262" y="2383996"/>
            <a:ext cx="1" cy="65778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8" name="Rectangle: Rounded Corners 27">
            <a:extLst>
              <a:ext uri="{FF2B5EF4-FFF2-40B4-BE49-F238E27FC236}">
                <a16:creationId xmlns:a16="http://schemas.microsoft.com/office/drawing/2014/main" id="{4418DB69-867B-5946-262F-161370FD9AE8}"/>
              </a:ext>
            </a:extLst>
          </p:cNvPr>
          <p:cNvSpPr/>
          <p:nvPr/>
        </p:nvSpPr>
        <p:spPr>
          <a:xfrm>
            <a:off x="7613778" y="3064327"/>
            <a:ext cx="2420969" cy="75189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Classification Model</a:t>
            </a:r>
          </a:p>
        </p:txBody>
      </p:sp>
      <p:sp>
        <p:nvSpPr>
          <p:cNvPr id="29" name="Oval 28">
            <a:extLst>
              <a:ext uri="{FF2B5EF4-FFF2-40B4-BE49-F238E27FC236}">
                <a16:creationId xmlns:a16="http://schemas.microsoft.com/office/drawing/2014/main" id="{C304B32E-3006-5340-A806-9BE01F2488D4}"/>
              </a:ext>
            </a:extLst>
          </p:cNvPr>
          <p:cNvSpPr/>
          <p:nvPr/>
        </p:nvSpPr>
        <p:spPr>
          <a:xfrm>
            <a:off x="7538809" y="4690941"/>
            <a:ext cx="2650220" cy="1112693"/>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Language model</a:t>
            </a:r>
          </a:p>
        </p:txBody>
      </p:sp>
      <p:cxnSp>
        <p:nvCxnSpPr>
          <p:cNvPr id="31" name="Straight Arrow Connector 30">
            <a:extLst>
              <a:ext uri="{FF2B5EF4-FFF2-40B4-BE49-F238E27FC236}">
                <a16:creationId xmlns:a16="http://schemas.microsoft.com/office/drawing/2014/main" id="{D6EF35F8-603B-F632-85FA-E4A956971543}"/>
              </a:ext>
            </a:extLst>
          </p:cNvPr>
          <p:cNvCxnSpPr>
            <a:cxnSpLocks/>
            <a:stCxn id="29" idx="0"/>
            <a:endCxn id="28" idx="2"/>
          </p:cNvCxnSpPr>
          <p:nvPr/>
        </p:nvCxnSpPr>
        <p:spPr>
          <a:xfrm flipH="1" flipV="1">
            <a:off x="8824263" y="3816221"/>
            <a:ext cx="39656" cy="874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5F09C4D6-F6FE-DD3B-1EC0-60B81199E164}"/>
              </a:ext>
            </a:extLst>
          </p:cNvPr>
          <p:cNvCxnSpPr>
            <a:cxnSpLocks/>
          </p:cNvCxnSpPr>
          <p:nvPr/>
        </p:nvCxnSpPr>
        <p:spPr>
          <a:xfrm flipH="1">
            <a:off x="6288833" y="3463601"/>
            <a:ext cx="131995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8" name="Cloud 37">
            <a:extLst>
              <a:ext uri="{FF2B5EF4-FFF2-40B4-BE49-F238E27FC236}">
                <a16:creationId xmlns:a16="http://schemas.microsoft.com/office/drawing/2014/main" id="{4EF11AFD-61E5-F829-3FCE-7FA4901AA07D}"/>
              </a:ext>
            </a:extLst>
          </p:cNvPr>
          <p:cNvSpPr/>
          <p:nvPr/>
        </p:nvSpPr>
        <p:spPr>
          <a:xfrm>
            <a:off x="3919182" y="2760511"/>
            <a:ext cx="2318333" cy="1406179"/>
          </a:xfrm>
          <a:prstGeom prst="clou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Prediction</a:t>
            </a:r>
          </a:p>
        </p:txBody>
      </p:sp>
    </p:spTree>
    <p:extLst>
      <p:ext uri="{BB962C8B-B14F-4D97-AF65-F5344CB8AC3E}">
        <p14:creationId xmlns:p14="http://schemas.microsoft.com/office/powerpoint/2010/main" val="1818348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vertical)">
                                      <p:cBhvr>
                                        <p:cTn id="7" dur="500"/>
                                        <p:tgtEl>
                                          <p:spTgt spid="5"/>
                                        </p:tgtEl>
                                      </p:cBhvr>
                                    </p:animEffect>
                                  </p:childTnLst>
                                </p:cTn>
                              </p:par>
                              <p:par>
                                <p:cTn id="8" presetID="14" presetClass="entr" presetSubtype="5"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randombar(vertical)">
                                      <p:cBhvr>
                                        <p:cTn id="10" dur="500"/>
                                        <p:tgtEl>
                                          <p:spTgt spid="8"/>
                                        </p:tgtEl>
                                      </p:cBhvr>
                                    </p:animEffect>
                                  </p:childTnLst>
                                </p:cTn>
                              </p:par>
                              <p:par>
                                <p:cTn id="11" presetID="14" presetClass="entr" presetSubtype="5"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randombar(vertical)">
                                      <p:cBhvr>
                                        <p:cTn id="13" dur="500"/>
                                        <p:tgtEl>
                                          <p:spTgt spid="10"/>
                                        </p:tgtEl>
                                      </p:cBhvr>
                                    </p:animEffect>
                                  </p:childTnLst>
                                </p:cTn>
                              </p:par>
                              <p:par>
                                <p:cTn id="14" presetID="14" presetClass="entr" presetSubtype="5"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randombar(vertical)">
                                      <p:cBhvr>
                                        <p:cTn id="16" dur="500"/>
                                        <p:tgtEl>
                                          <p:spTgt spid="11"/>
                                        </p:tgtEl>
                                      </p:cBhvr>
                                    </p:animEffect>
                                  </p:childTnLst>
                                </p:cTn>
                              </p:par>
                              <p:par>
                                <p:cTn id="17" presetID="14" presetClass="entr" presetSubtype="5"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randombar(vertical)">
                                      <p:cBhvr>
                                        <p:cTn id="19" dur="500"/>
                                        <p:tgtEl>
                                          <p:spTgt spid="12"/>
                                        </p:tgtEl>
                                      </p:cBhvr>
                                    </p:animEffect>
                                  </p:childTnLst>
                                </p:cTn>
                              </p:par>
                              <p:par>
                                <p:cTn id="20" presetID="14" presetClass="entr" presetSubtype="5"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randombar(vertical)">
                                      <p:cBhvr>
                                        <p:cTn id="22" dur="500"/>
                                        <p:tgtEl>
                                          <p:spTgt spid="13"/>
                                        </p:tgtEl>
                                      </p:cBhvr>
                                    </p:animEffect>
                                  </p:childTnLst>
                                </p:cTn>
                              </p:par>
                              <p:par>
                                <p:cTn id="23" presetID="14" presetClass="entr" presetSubtype="5"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randombar(vertical)">
                                      <p:cBhvr>
                                        <p:cTn id="25" dur="500"/>
                                        <p:tgtEl>
                                          <p:spTgt spid="27"/>
                                        </p:tgtEl>
                                      </p:cBhvr>
                                    </p:animEffect>
                                  </p:childTnLst>
                                </p:cTn>
                              </p:par>
                              <p:par>
                                <p:cTn id="26" presetID="14" presetClass="entr" presetSubtype="5" fill="hold" grpId="0"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randombar(vertical)">
                                      <p:cBhvr>
                                        <p:cTn id="28" dur="500"/>
                                        <p:tgtEl>
                                          <p:spTgt spid="28"/>
                                        </p:tgtEl>
                                      </p:cBhvr>
                                    </p:animEffect>
                                  </p:childTnLst>
                                </p:cTn>
                              </p:par>
                              <p:par>
                                <p:cTn id="29" presetID="14" presetClass="entr" presetSubtype="5"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randombar(vertical)">
                                      <p:cBhvr>
                                        <p:cTn id="31" dur="500"/>
                                        <p:tgtEl>
                                          <p:spTgt spid="29"/>
                                        </p:tgtEl>
                                      </p:cBhvr>
                                    </p:animEffect>
                                  </p:childTnLst>
                                </p:cTn>
                              </p:par>
                              <p:par>
                                <p:cTn id="32" presetID="14" presetClass="entr" presetSubtype="5" fill="hold"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randombar(vertical)">
                                      <p:cBhvr>
                                        <p:cTn id="34" dur="500"/>
                                        <p:tgtEl>
                                          <p:spTgt spid="31"/>
                                        </p:tgtEl>
                                      </p:cBhvr>
                                    </p:animEffect>
                                  </p:childTnLst>
                                </p:cTn>
                              </p:par>
                              <p:par>
                                <p:cTn id="35" presetID="14" presetClass="entr" presetSubtype="5" fill="hold" nodeType="with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randombar(vertical)">
                                      <p:cBhvr>
                                        <p:cTn id="37" dur="500"/>
                                        <p:tgtEl>
                                          <p:spTgt spid="34"/>
                                        </p:tgtEl>
                                      </p:cBhvr>
                                    </p:animEffect>
                                  </p:childTnLst>
                                </p:cTn>
                              </p:par>
                              <p:par>
                                <p:cTn id="38" presetID="14" presetClass="entr" presetSubtype="5" fill="hold" grpId="0" nodeType="with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randombar(vertical)">
                                      <p:cBhvr>
                                        <p:cTn id="4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animBg="1"/>
      <p:bldP spid="13" grpId="0" animBg="1"/>
      <p:bldP spid="28" grpId="0" animBg="1"/>
      <p:bldP spid="29" grpId="0" animBg="1"/>
      <p:bldP spid="3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90FF28-EDC7-27A8-C16D-1AC5B23A932D}"/>
              </a:ext>
            </a:extLst>
          </p:cNvPr>
          <p:cNvSpPr txBox="1"/>
          <p:nvPr/>
        </p:nvSpPr>
        <p:spPr>
          <a:xfrm>
            <a:off x="3823995" y="6707"/>
            <a:ext cx="4114801" cy="584775"/>
          </a:xfrm>
          <a:prstGeom prst="rect">
            <a:avLst/>
          </a:prstGeom>
          <a:noFill/>
        </p:spPr>
        <p:txBody>
          <a:bodyPr wrap="square" rtlCol="0">
            <a:spAutoFit/>
          </a:bodyPr>
          <a:lstStyle/>
          <a:p>
            <a:pPr algn="ctr"/>
            <a:r>
              <a:rPr lang="en-US" sz="3200" dirty="0"/>
              <a:t>Data Preprocessing</a:t>
            </a:r>
          </a:p>
        </p:txBody>
      </p:sp>
      <p:pic>
        <p:nvPicPr>
          <p:cNvPr id="4" name="Picture 3">
            <a:extLst>
              <a:ext uri="{FF2B5EF4-FFF2-40B4-BE49-F238E27FC236}">
                <a16:creationId xmlns:a16="http://schemas.microsoft.com/office/drawing/2014/main" id="{99357B9A-338F-5EBB-B725-FB7E4E8E71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5977" y="989045"/>
            <a:ext cx="5876925" cy="5787603"/>
          </a:xfrm>
          <a:prstGeom prst="rect">
            <a:avLst/>
          </a:prstGeom>
        </p:spPr>
      </p:pic>
      <p:pic>
        <p:nvPicPr>
          <p:cNvPr id="6" name="Picture 5">
            <a:extLst>
              <a:ext uri="{FF2B5EF4-FFF2-40B4-BE49-F238E27FC236}">
                <a16:creationId xmlns:a16="http://schemas.microsoft.com/office/drawing/2014/main" id="{A1EF2D32-F9B5-DBBC-95A3-02C249C3D9F1}"/>
              </a:ext>
            </a:extLst>
          </p:cNvPr>
          <p:cNvPicPr>
            <a:picLocks noChangeAspect="1"/>
          </p:cNvPicPr>
          <p:nvPr/>
        </p:nvPicPr>
        <p:blipFill>
          <a:blip r:embed="rId4"/>
          <a:stretch>
            <a:fillRect/>
          </a:stretch>
        </p:blipFill>
        <p:spPr>
          <a:xfrm>
            <a:off x="4584439" y="1086500"/>
            <a:ext cx="7430537" cy="3229426"/>
          </a:xfrm>
          <a:prstGeom prst="rect">
            <a:avLst/>
          </a:prstGeom>
        </p:spPr>
      </p:pic>
    </p:spTree>
    <p:extLst>
      <p:ext uri="{BB962C8B-B14F-4D97-AF65-F5344CB8AC3E}">
        <p14:creationId xmlns:p14="http://schemas.microsoft.com/office/powerpoint/2010/main" val="3655175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1000" fill="hold"/>
                                        <p:tgtEl>
                                          <p:spTgt spid="6"/>
                                        </p:tgtEl>
                                        <p:attrNameLst>
                                          <p:attrName>ppt_w</p:attrName>
                                        </p:attrNameLst>
                                      </p:cBhvr>
                                      <p:tavLst>
                                        <p:tav tm="0">
                                          <p:val>
                                            <p:fltVal val="0"/>
                                          </p:val>
                                        </p:tav>
                                        <p:tav tm="100000">
                                          <p:val>
                                            <p:strVal val="#ppt_w"/>
                                          </p:val>
                                        </p:tav>
                                      </p:tavLst>
                                    </p:anim>
                                    <p:anim calcmode="lin" valueType="num">
                                      <p:cBhvr>
                                        <p:cTn id="15" dur="1000" fill="hold"/>
                                        <p:tgtEl>
                                          <p:spTgt spid="6"/>
                                        </p:tgtEl>
                                        <p:attrNameLst>
                                          <p:attrName>ppt_h</p:attrName>
                                        </p:attrNameLst>
                                      </p:cBhvr>
                                      <p:tavLst>
                                        <p:tav tm="0">
                                          <p:val>
                                            <p:fltVal val="0"/>
                                          </p:val>
                                        </p:tav>
                                        <p:tav tm="100000">
                                          <p:val>
                                            <p:strVal val="#ppt_h"/>
                                          </p:val>
                                        </p:tav>
                                      </p:tavLst>
                                    </p:anim>
                                    <p:anim calcmode="lin" valueType="num">
                                      <p:cBhvr>
                                        <p:cTn id="16" dur="1000" fill="hold"/>
                                        <p:tgtEl>
                                          <p:spTgt spid="6"/>
                                        </p:tgtEl>
                                        <p:attrNameLst>
                                          <p:attrName>style.rotation</p:attrName>
                                        </p:attrNameLst>
                                      </p:cBhvr>
                                      <p:tavLst>
                                        <p:tav tm="0">
                                          <p:val>
                                            <p:fltVal val="90"/>
                                          </p:val>
                                        </p:tav>
                                        <p:tav tm="100000">
                                          <p:val>
                                            <p:fltVal val="0"/>
                                          </p:val>
                                        </p:tav>
                                      </p:tavLst>
                                    </p:anim>
                                    <p:animEffect transition="in" filter="fade">
                                      <p:cBhvr>
                                        <p:cTn id="1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D40E6FC-71CE-B87A-CB76-07C0E09F68DD}"/>
              </a:ext>
            </a:extLst>
          </p:cNvPr>
          <p:cNvPicPr>
            <a:picLocks noChangeAspect="1"/>
          </p:cNvPicPr>
          <p:nvPr/>
        </p:nvPicPr>
        <p:blipFill>
          <a:blip r:embed="rId2"/>
          <a:stretch>
            <a:fillRect/>
          </a:stretch>
        </p:blipFill>
        <p:spPr>
          <a:xfrm>
            <a:off x="1632621" y="0"/>
            <a:ext cx="9915801" cy="6858000"/>
          </a:xfrm>
          <a:prstGeom prst="rect">
            <a:avLst/>
          </a:prstGeom>
        </p:spPr>
      </p:pic>
    </p:spTree>
    <p:extLst>
      <p:ext uri="{BB962C8B-B14F-4D97-AF65-F5344CB8AC3E}">
        <p14:creationId xmlns:p14="http://schemas.microsoft.com/office/powerpoint/2010/main" val="2091212469"/>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D884B-9306-734A-8BDD-129A831385A9}"/>
              </a:ext>
            </a:extLst>
          </p:cNvPr>
          <p:cNvSpPr>
            <a:spLocks noGrp="1"/>
          </p:cNvSpPr>
          <p:nvPr>
            <p:ph type="title"/>
          </p:nvPr>
        </p:nvSpPr>
        <p:spPr>
          <a:xfrm>
            <a:off x="2779539" y="73603"/>
            <a:ext cx="5683328" cy="850127"/>
          </a:xfrm>
        </p:spPr>
        <p:txBody>
          <a:bodyPr/>
          <a:lstStyle/>
          <a:p>
            <a:pPr algn="ctr"/>
            <a:r>
              <a:rPr lang="en-US" dirty="0"/>
              <a:t>Choosing a model</a:t>
            </a:r>
          </a:p>
        </p:txBody>
      </p:sp>
      <p:sp>
        <p:nvSpPr>
          <p:cNvPr id="4" name="TextBox 3">
            <a:extLst>
              <a:ext uri="{FF2B5EF4-FFF2-40B4-BE49-F238E27FC236}">
                <a16:creationId xmlns:a16="http://schemas.microsoft.com/office/drawing/2014/main" id="{1626BCF8-6FFB-08C3-5010-4464A9E00C0D}"/>
              </a:ext>
            </a:extLst>
          </p:cNvPr>
          <p:cNvSpPr txBox="1"/>
          <p:nvPr/>
        </p:nvSpPr>
        <p:spPr>
          <a:xfrm>
            <a:off x="1244653" y="1642188"/>
            <a:ext cx="3399663" cy="369332"/>
          </a:xfrm>
          <a:prstGeom prst="rect">
            <a:avLst/>
          </a:prstGeom>
          <a:noFill/>
        </p:spPr>
        <p:txBody>
          <a:bodyPr wrap="square" rtlCol="0">
            <a:spAutoFit/>
          </a:bodyPr>
          <a:lstStyle/>
          <a:p>
            <a:r>
              <a:rPr lang="en-US" dirty="0"/>
              <a:t>Linear Regression</a:t>
            </a:r>
          </a:p>
        </p:txBody>
      </p:sp>
      <p:pic>
        <p:nvPicPr>
          <p:cNvPr id="1026" name="Picture 2">
            <a:extLst>
              <a:ext uri="{FF2B5EF4-FFF2-40B4-BE49-F238E27FC236}">
                <a16:creationId xmlns:a16="http://schemas.microsoft.com/office/drawing/2014/main" id="{EB16DB88-83A7-1C1A-4DAE-04A66E32BF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0972" y="2078819"/>
            <a:ext cx="3461548" cy="2390544"/>
          </a:xfrm>
          <a:prstGeom prst="rect">
            <a:avLst/>
          </a:prstGeom>
          <a:noFill/>
          <a:extLst>
            <a:ext uri="{909E8E84-426E-40DD-AFC4-6F175D3DCCD1}">
              <a14:hiddenFill xmlns:a14="http://schemas.microsoft.com/office/drawing/2010/main">
                <a:solidFill>
                  <a:srgbClr val="FFFFFF"/>
                </a:solidFill>
              </a14:hiddenFill>
            </a:ext>
          </a:extLst>
        </p:spPr>
      </p:pic>
      <p:sp>
        <p:nvSpPr>
          <p:cNvPr id="5" name="&quot;Not Allowed&quot; Symbol 4">
            <a:extLst>
              <a:ext uri="{FF2B5EF4-FFF2-40B4-BE49-F238E27FC236}">
                <a16:creationId xmlns:a16="http://schemas.microsoft.com/office/drawing/2014/main" id="{C2CB8298-5A64-E2DB-F5DF-68E540F6DFE0}"/>
              </a:ext>
            </a:extLst>
          </p:cNvPr>
          <p:cNvSpPr/>
          <p:nvPr/>
        </p:nvSpPr>
        <p:spPr>
          <a:xfrm>
            <a:off x="1240973" y="1642188"/>
            <a:ext cx="3461547" cy="2836507"/>
          </a:xfrm>
          <a:prstGeom prst="noSmoking">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1C8700B2-B176-077F-C1C9-1DBF07DA67DB}"/>
              </a:ext>
            </a:extLst>
          </p:cNvPr>
          <p:cNvPicPr>
            <a:picLocks noChangeAspect="1"/>
          </p:cNvPicPr>
          <p:nvPr/>
        </p:nvPicPr>
        <p:blipFill>
          <a:blip r:embed="rId4"/>
          <a:stretch>
            <a:fillRect/>
          </a:stretch>
        </p:blipFill>
        <p:spPr>
          <a:xfrm>
            <a:off x="8172838" y="621639"/>
            <a:ext cx="3461547" cy="2627379"/>
          </a:xfrm>
          <a:prstGeom prst="rect">
            <a:avLst/>
          </a:prstGeom>
        </p:spPr>
      </p:pic>
      <p:sp>
        <p:nvSpPr>
          <p:cNvPr id="8" name="TextBox 7">
            <a:extLst>
              <a:ext uri="{FF2B5EF4-FFF2-40B4-BE49-F238E27FC236}">
                <a16:creationId xmlns:a16="http://schemas.microsoft.com/office/drawing/2014/main" id="{E6DC84F8-00D0-519E-BEDE-1608BBC250B0}"/>
              </a:ext>
            </a:extLst>
          </p:cNvPr>
          <p:cNvSpPr txBox="1"/>
          <p:nvPr/>
        </p:nvSpPr>
        <p:spPr>
          <a:xfrm>
            <a:off x="8244052" y="3558429"/>
            <a:ext cx="2952683" cy="369332"/>
          </a:xfrm>
          <a:prstGeom prst="rect">
            <a:avLst/>
          </a:prstGeom>
          <a:noFill/>
        </p:spPr>
        <p:txBody>
          <a:bodyPr wrap="square" rtlCol="0">
            <a:spAutoFit/>
          </a:bodyPr>
          <a:lstStyle/>
          <a:p>
            <a:r>
              <a:rPr lang="en-US" dirty="0"/>
              <a:t>Support Vector Machine</a:t>
            </a:r>
          </a:p>
        </p:txBody>
      </p:sp>
      <p:pic>
        <p:nvPicPr>
          <p:cNvPr id="10" name="Picture 9">
            <a:extLst>
              <a:ext uri="{FF2B5EF4-FFF2-40B4-BE49-F238E27FC236}">
                <a16:creationId xmlns:a16="http://schemas.microsoft.com/office/drawing/2014/main" id="{35556F60-2CE2-C83A-A4C3-44E53948CA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49697" y="3927761"/>
            <a:ext cx="3543432" cy="2308600"/>
          </a:xfrm>
          <a:prstGeom prst="rect">
            <a:avLst/>
          </a:prstGeom>
        </p:spPr>
      </p:pic>
      <p:sp>
        <p:nvSpPr>
          <p:cNvPr id="11" name="TextBox 10">
            <a:extLst>
              <a:ext uri="{FF2B5EF4-FFF2-40B4-BE49-F238E27FC236}">
                <a16:creationId xmlns:a16="http://schemas.microsoft.com/office/drawing/2014/main" id="{AD5B1A86-D4EB-F51A-3EEA-97A17778AD74}"/>
              </a:ext>
            </a:extLst>
          </p:cNvPr>
          <p:cNvSpPr txBox="1"/>
          <p:nvPr/>
        </p:nvSpPr>
        <p:spPr>
          <a:xfrm>
            <a:off x="419878" y="4609322"/>
            <a:ext cx="5840963" cy="1938992"/>
          </a:xfrm>
          <a:prstGeom prst="rect">
            <a:avLst/>
          </a:prstGeom>
          <a:noFill/>
        </p:spPr>
        <p:txBody>
          <a:bodyPr wrap="square" rtlCol="0">
            <a:spAutoFit/>
          </a:bodyPr>
          <a:lstStyle/>
          <a:p>
            <a:pPr algn="just"/>
            <a:r>
              <a:rPr lang="en-US" sz="2000" dirty="0">
                <a:highlight>
                  <a:srgbClr val="00FFFF"/>
                </a:highlight>
              </a:rPr>
              <a:t>Linear regression isn’t suited for classification tasks because it’s designed to predict continuous numerical values, not categories or classes. Using it for classification leads to unreliable and misleading results, as the model struggles to assign clear class labels.</a:t>
            </a:r>
          </a:p>
        </p:txBody>
      </p:sp>
    </p:spTree>
    <p:extLst>
      <p:ext uri="{BB962C8B-B14F-4D97-AF65-F5344CB8AC3E}">
        <p14:creationId xmlns:p14="http://schemas.microsoft.com/office/powerpoint/2010/main" val="3575070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1000"/>
                                        <p:tgtEl>
                                          <p:spTgt spid="4"/>
                                        </p:tgtEl>
                                      </p:cBhvr>
                                    </p:animEffect>
                                  </p:childTnLst>
                                </p:cTn>
                              </p:par>
                              <p:par>
                                <p:cTn id="8" presetID="21" presetClass="entr" presetSubtype="1" fill="hold" nodeType="withEffect">
                                  <p:stCondLst>
                                    <p:cond delay="0"/>
                                  </p:stCondLst>
                                  <p:childTnLst>
                                    <p:set>
                                      <p:cBhvr>
                                        <p:cTn id="9" dur="1" fill="hold">
                                          <p:stCondLst>
                                            <p:cond delay="0"/>
                                          </p:stCondLst>
                                        </p:cTn>
                                        <p:tgtEl>
                                          <p:spTgt spid="1026"/>
                                        </p:tgtEl>
                                        <p:attrNameLst>
                                          <p:attrName>style.visibility</p:attrName>
                                        </p:attrNameLst>
                                      </p:cBhvr>
                                      <p:to>
                                        <p:strVal val="visible"/>
                                      </p:to>
                                    </p:set>
                                    <p:animEffect transition="in" filter="wheel(1)">
                                      <p:cBhvr>
                                        <p:cTn id="10" dur="1000"/>
                                        <p:tgtEl>
                                          <p:spTgt spid="102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animEffect transition="in" filter="fade">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500" fill="hold"/>
                                        <p:tgtEl>
                                          <p:spTgt spid="7"/>
                                        </p:tgtEl>
                                        <p:attrNameLst>
                                          <p:attrName>ppt_x</p:attrName>
                                        </p:attrNameLst>
                                      </p:cBhvr>
                                      <p:tavLst>
                                        <p:tav tm="0">
                                          <p:val>
                                            <p:strVal val="#ppt_x"/>
                                          </p:val>
                                        </p:tav>
                                        <p:tav tm="100000">
                                          <p:val>
                                            <p:strVal val="#ppt_x"/>
                                          </p:val>
                                        </p:tav>
                                      </p:tavLst>
                                    </p:anim>
                                    <p:anim calcmode="lin" valueType="num">
                                      <p:cBhvr additive="base">
                                        <p:cTn id="31" dur="500" fill="hold"/>
                                        <p:tgtEl>
                                          <p:spTgt spid="7"/>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8"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153BD59-96F8-094F-10D6-763A8806B038}"/>
              </a:ext>
            </a:extLst>
          </p:cNvPr>
          <p:cNvSpPr>
            <a:spLocks noGrp="1"/>
          </p:cNvSpPr>
          <p:nvPr>
            <p:ph type="title"/>
          </p:nvPr>
        </p:nvSpPr>
        <p:spPr>
          <a:xfrm>
            <a:off x="2779539" y="73603"/>
            <a:ext cx="5683328" cy="850127"/>
          </a:xfrm>
        </p:spPr>
        <p:txBody>
          <a:bodyPr/>
          <a:lstStyle/>
          <a:p>
            <a:pPr algn="ctr"/>
            <a:r>
              <a:rPr lang="en-US" dirty="0"/>
              <a:t>Logistic Regression</a:t>
            </a:r>
          </a:p>
        </p:txBody>
      </p:sp>
      <p:sp>
        <p:nvSpPr>
          <p:cNvPr id="9" name="TextBox 8">
            <a:extLst>
              <a:ext uri="{FF2B5EF4-FFF2-40B4-BE49-F238E27FC236}">
                <a16:creationId xmlns:a16="http://schemas.microsoft.com/office/drawing/2014/main" id="{564B5226-33EC-C936-8F97-802286713B9A}"/>
              </a:ext>
            </a:extLst>
          </p:cNvPr>
          <p:cNvSpPr txBox="1"/>
          <p:nvPr/>
        </p:nvSpPr>
        <p:spPr>
          <a:xfrm>
            <a:off x="4404049" y="1017038"/>
            <a:ext cx="7417837" cy="2513509"/>
          </a:xfrm>
          <a:prstGeom prst="rect">
            <a:avLst/>
          </a:prstGeom>
          <a:noFill/>
        </p:spPr>
        <p:txBody>
          <a:bodyPr wrap="square" rtlCol="0">
            <a:spAutoFit/>
          </a:bodyPr>
          <a:lstStyle/>
          <a:p>
            <a:pPr algn="just">
              <a:spcAft>
                <a:spcPts val="750"/>
              </a:spcAft>
            </a:pPr>
            <a:r>
              <a:rPr lang="en-US" b="0" i="0" dirty="0">
                <a:solidFill>
                  <a:srgbClr val="333333"/>
                </a:solidFill>
                <a:effectLst/>
              </a:rPr>
              <a:t>What is Logistic Regression?</a:t>
            </a:r>
          </a:p>
          <a:p>
            <a:pPr marL="285750" indent="-285750" algn="just">
              <a:spcAft>
                <a:spcPts val="750"/>
              </a:spcAft>
              <a:buFont typeface="Wingdings" panose="05000000000000000000" pitchFamily="2" charset="2"/>
              <a:buChar char="q"/>
            </a:pPr>
            <a:r>
              <a:rPr lang="en-US" b="0" i="0" dirty="0">
                <a:solidFill>
                  <a:srgbClr val="333333"/>
                </a:solidFill>
                <a:effectLst/>
              </a:rPr>
              <a:t>Logistic regression is a statistical technique used to classify records in a dataset based on input field values, predicting outcomes like customer churn.</a:t>
            </a:r>
          </a:p>
          <a:p>
            <a:pPr marL="285750" indent="-285750" algn="just">
              <a:spcAft>
                <a:spcPts val="750"/>
              </a:spcAft>
              <a:buFont typeface="Wingdings" panose="05000000000000000000" pitchFamily="2" charset="2"/>
              <a:buChar char="q"/>
            </a:pPr>
            <a:r>
              <a:rPr lang="en-US" b="0" i="0" dirty="0">
                <a:solidFill>
                  <a:srgbClr val="333333"/>
                </a:solidFill>
                <a:effectLst/>
              </a:rPr>
              <a:t>It uses independent variables (e.g., age, income) to predict a dependent variable (e.g., whether a customer will leave), distinguishing it from linear regression, which predicts continuous values.</a:t>
            </a:r>
          </a:p>
        </p:txBody>
      </p:sp>
      <p:pic>
        <p:nvPicPr>
          <p:cNvPr id="11" name="Picture 10">
            <a:extLst>
              <a:ext uri="{FF2B5EF4-FFF2-40B4-BE49-F238E27FC236}">
                <a16:creationId xmlns:a16="http://schemas.microsoft.com/office/drawing/2014/main" id="{BCC36A7C-D0F0-9216-D2D6-4ED6AFAF79C1}"/>
              </a:ext>
            </a:extLst>
          </p:cNvPr>
          <p:cNvPicPr>
            <a:picLocks noChangeAspect="1"/>
          </p:cNvPicPr>
          <p:nvPr/>
        </p:nvPicPr>
        <p:blipFill>
          <a:blip r:embed="rId3"/>
          <a:stretch>
            <a:fillRect/>
          </a:stretch>
        </p:blipFill>
        <p:spPr>
          <a:xfrm>
            <a:off x="370114" y="1337677"/>
            <a:ext cx="3499246" cy="1312217"/>
          </a:xfrm>
          <a:prstGeom prst="rect">
            <a:avLst/>
          </a:prstGeom>
        </p:spPr>
      </p:pic>
      <p:pic>
        <p:nvPicPr>
          <p:cNvPr id="12" name="Picture 11">
            <a:extLst>
              <a:ext uri="{FF2B5EF4-FFF2-40B4-BE49-F238E27FC236}">
                <a16:creationId xmlns:a16="http://schemas.microsoft.com/office/drawing/2014/main" id="{A51ED037-BDBF-BE6D-1B36-5740B716A0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9561" y="3063841"/>
            <a:ext cx="3489799" cy="3109625"/>
          </a:xfrm>
          <a:prstGeom prst="rect">
            <a:avLst/>
          </a:prstGeom>
        </p:spPr>
      </p:pic>
      <p:sp>
        <p:nvSpPr>
          <p:cNvPr id="13" name="TextBox 12">
            <a:extLst>
              <a:ext uri="{FF2B5EF4-FFF2-40B4-BE49-F238E27FC236}">
                <a16:creationId xmlns:a16="http://schemas.microsoft.com/office/drawing/2014/main" id="{4B90E8F0-924F-F89D-931A-55EC788B4DAA}"/>
              </a:ext>
            </a:extLst>
          </p:cNvPr>
          <p:cNvSpPr txBox="1"/>
          <p:nvPr/>
        </p:nvSpPr>
        <p:spPr>
          <a:xfrm>
            <a:off x="4404049" y="3685592"/>
            <a:ext cx="7576457" cy="2339102"/>
          </a:xfrm>
          <a:prstGeom prst="rect">
            <a:avLst/>
          </a:prstGeom>
          <a:noFill/>
        </p:spPr>
        <p:txBody>
          <a:bodyPr wrap="square" rtlCol="0">
            <a:spAutoFit/>
          </a:bodyPr>
          <a:lstStyle/>
          <a:p>
            <a:pPr algn="just">
              <a:spcAft>
                <a:spcPts val="750"/>
              </a:spcAft>
            </a:pPr>
            <a:r>
              <a:rPr lang="en-US" b="0" i="0" dirty="0">
                <a:solidFill>
                  <a:srgbClr val="333333"/>
                </a:solidFill>
                <a:effectLst/>
              </a:rPr>
              <a:t>Applications of Logistic Regression: </a:t>
            </a:r>
          </a:p>
          <a:p>
            <a:pPr marL="285750" indent="-285750" algn="just">
              <a:spcAft>
                <a:spcPts val="750"/>
              </a:spcAft>
              <a:buFont typeface="Wingdings" panose="05000000000000000000" pitchFamily="2" charset="2"/>
              <a:buChar char="q"/>
            </a:pPr>
            <a:r>
              <a:rPr lang="en-US" b="0" i="0" dirty="0">
                <a:solidFill>
                  <a:srgbClr val="333333"/>
                </a:solidFill>
                <a:effectLst/>
              </a:rPr>
              <a:t>It can predict various binary outcomes, such as the likelihood of a heart attack, customer purchase behavior, or mortgage default.</a:t>
            </a:r>
          </a:p>
          <a:p>
            <a:pPr marL="285750" indent="-285750" algn="just">
              <a:spcAft>
                <a:spcPts val="750"/>
              </a:spcAft>
              <a:buFont typeface="Wingdings" panose="05000000000000000000" pitchFamily="2" charset="2"/>
              <a:buChar char="q"/>
            </a:pPr>
            <a:r>
              <a:rPr lang="en-US" b="0" i="0" dirty="0">
                <a:solidFill>
                  <a:srgbClr val="333333"/>
                </a:solidFill>
                <a:effectLst/>
              </a:rPr>
              <a:t>Logistic regression not only predicts class membership but also provides the probability of belonging to a specific class.</a:t>
            </a:r>
          </a:p>
          <a:p>
            <a:pPr algn="just"/>
            <a:endParaRPr lang="en-US" dirty="0"/>
          </a:p>
        </p:txBody>
      </p:sp>
    </p:spTree>
    <p:extLst>
      <p:ext uri="{BB962C8B-B14F-4D97-AF65-F5344CB8AC3E}">
        <p14:creationId xmlns:p14="http://schemas.microsoft.com/office/powerpoint/2010/main" val="3445088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500"/>
                                        <p:tgtEl>
                                          <p:spTgt spid="9"/>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heel(1)">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p:cTn id="15" dur="500" fill="hold"/>
                                        <p:tgtEl>
                                          <p:spTgt spid="11"/>
                                        </p:tgtEl>
                                        <p:attrNameLst>
                                          <p:attrName>ppt_w</p:attrName>
                                        </p:attrNameLst>
                                      </p:cBhvr>
                                      <p:tavLst>
                                        <p:tav tm="0">
                                          <p:val>
                                            <p:fltVal val="0"/>
                                          </p:val>
                                        </p:tav>
                                        <p:tav tm="100000">
                                          <p:val>
                                            <p:strVal val="#ppt_w"/>
                                          </p:val>
                                        </p:tav>
                                      </p:tavLst>
                                    </p:anim>
                                    <p:anim calcmode="lin" valueType="num">
                                      <p:cBhvr>
                                        <p:cTn id="16" dur="500" fill="hold"/>
                                        <p:tgtEl>
                                          <p:spTgt spid="11"/>
                                        </p:tgtEl>
                                        <p:attrNameLst>
                                          <p:attrName>ppt_h</p:attrName>
                                        </p:attrNameLst>
                                      </p:cBhvr>
                                      <p:tavLst>
                                        <p:tav tm="0">
                                          <p:val>
                                            <p:fltVal val="0"/>
                                          </p:val>
                                        </p:tav>
                                        <p:tav tm="100000">
                                          <p:val>
                                            <p:strVal val="#ppt_h"/>
                                          </p:val>
                                        </p:tav>
                                      </p:tavLst>
                                    </p:anim>
                                    <p:anim calcmode="lin" valueType="num">
                                      <p:cBhvr>
                                        <p:cTn id="17" dur="500" fill="hold"/>
                                        <p:tgtEl>
                                          <p:spTgt spid="11"/>
                                        </p:tgtEl>
                                        <p:attrNameLst>
                                          <p:attrName>style.rotation</p:attrName>
                                        </p:attrNameLst>
                                      </p:cBhvr>
                                      <p:tavLst>
                                        <p:tav tm="0">
                                          <p:val>
                                            <p:fltVal val="90"/>
                                          </p:val>
                                        </p:tav>
                                        <p:tav tm="100000">
                                          <p:val>
                                            <p:fltVal val="0"/>
                                          </p:val>
                                        </p:tav>
                                      </p:tavLst>
                                    </p:anim>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47"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1000"/>
                                        <p:tgtEl>
                                          <p:spTgt spid="12"/>
                                        </p:tgtEl>
                                      </p:cBhvr>
                                    </p:animEffect>
                                    <p:anim calcmode="lin" valueType="num">
                                      <p:cBhvr>
                                        <p:cTn id="24" dur="1000" fill="hold"/>
                                        <p:tgtEl>
                                          <p:spTgt spid="12"/>
                                        </p:tgtEl>
                                        <p:attrNameLst>
                                          <p:attrName>ppt_x</p:attrName>
                                        </p:attrNameLst>
                                      </p:cBhvr>
                                      <p:tavLst>
                                        <p:tav tm="0">
                                          <p:val>
                                            <p:strVal val="#ppt_x"/>
                                          </p:val>
                                        </p:tav>
                                        <p:tav tm="100000">
                                          <p:val>
                                            <p:strVal val="#ppt_x"/>
                                          </p:val>
                                        </p:tav>
                                      </p:tavLst>
                                    </p:anim>
                                    <p:anim calcmode="lin" valueType="num">
                                      <p:cBhvr>
                                        <p:cTn id="25"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B459F-2061-F072-4BE9-FBB026D010E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D6D3C66-81C1-A084-4601-CC608D4F2FB3}"/>
              </a:ext>
            </a:extLst>
          </p:cNvPr>
          <p:cNvSpPr>
            <a:spLocks noGrp="1"/>
          </p:cNvSpPr>
          <p:nvPr>
            <p:ph type="title"/>
          </p:nvPr>
        </p:nvSpPr>
        <p:spPr>
          <a:xfrm>
            <a:off x="2145057" y="101595"/>
            <a:ext cx="8463850" cy="850127"/>
          </a:xfrm>
        </p:spPr>
        <p:txBody>
          <a:bodyPr>
            <a:noAutofit/>
          </a:bodyPr>
          <a:lstStyle/>
          <a:p>
            <a:pPr algn="ctr"/>
            <a:r>
              <a:rPr lang="en-US" dirty="0"/>
              <a:t>Logistic Regression Training Algorithm</a:t>
            </a:r>
          </a:p>
        </p:txBody>
      </p:sp>
      <p:sp>
        <p:nvSpPr>
          <p:cNvPr id="2" name="TextBox 1">
            <a:extLst>
              <a:ext uri="{FF2B5EF4-FFF2-40B4-BE49-F238E27FC236}">
                <a16:creationId xmlns:a16="http://schemas.microsoft.com/office/drawing/2014/main" id="{1EBD6E83-0F35-D36D-6360-0450CB22F101}"/>
              </a:ext>
            </a:extLst>
          </p:cNvPr>
          <p:cNvSpPr txBox="1"/>
          <p:nvPr/>
        </p:nvSpPr>
        <p:spPr>
          <a:xfrm>
            <a:off x="1492893" y="1063690"/>
            <a:ext cx="5141167" cy="369332"/>
          </a:xfrm>
          <a:prstGeom prst="rect">
            <a:avLst/>
          </a:prstGeom>
          <a:noFill/>
        </p:spPr>
        <p:txBody>
          <a:bodyPr wrap="square" rtlCol="0">
            <a:spAutoFit/>
          </a:bodyPr>
          <a:lstStyle/>
          <a:p>
            <a:pPr algn="just"/>
            <a:r>
              <a:rPr lang="en-US" dirty="0"/>
              <a:t>1. Initialize the parameters randomly.</a:t>
            </a:r>
          </a:p>
        </p:txBody>
      </p:sp>
      <p:sp>
        <p:nvSpPr>
          <p:cNvPr id="3" name="TextBox 2">
            <a:extLst>
              <a:ext uri="{FF2B5EF4-FFF2-40B4-BE49-F238E27FC236}">
                <a16:creationId xmlns:a16="http://schemas.microsoft.com/office/drawing/2014/main" id="{314EE837-3E70-8606-54CE-B12AFE091870}"/>
              </a:ext>
            </a:extLst>
          </p:cNvPr>
          <p:cNvSpPr txBox="1"/>
          <p:nvPr/>
        </p:nvSpPr>
        <p:spPr>
          <a:xfrm>
            <a:off x="777551" y="1816263"/>
            <a:ext cx="4354286" cy="646331"/>
          </a:xfrm>
          <a:prstGeom prst="rect">
            <a:avLst/>
          </a:prstGeom>
          <a:noFill/>
        </p:spPr>
        <p:txBody>
          <a:bodyPr wrap="square" rtlCol="0">
            <a:spAutoFit/>
          </a:bodyPr>
          <a:lstStyle/>
          <a:p>
            <a:pPr algn="just"/>
            <a:r>
              <a:rPr lang="en-US" dirty="0"/>
              <a:t>2. Feed the cost function with training set, calculate error.</a:t>
            </a:r>
          </a:p>
        </p:txBody>
      </p:sp>
      <p:sp>
        <p:nvSpPr>
          <p:cNvPr id="6" name="TextBox 5">
            <a:extLst>
              <a:ext uri="{FF2B5EF4-FFF2-40B4-BE49-F238E27FC236}">
                <a16:creationId xmlns:a16="http://schemas.microsoft.com/office/drawing/2014/main" id="{37D654E7-6FB6-4B80-2C5E-F00912851B29}"/>
              </a:ext>
            </a:extLst>
          </p:cNvPr>
          <p:cNvSpPr txBox="1"/>
          <p:nvPr/>
        </p:nvSpPr>
        <p:spPr>
          <a:xfrm>
            <a:off x="777550" y="3182102"/>
            <a:ext cx="4354287" cy="646331"/>
          </a:xfrm>
          <a:prstGeom prst="rect">
            <a:avLst/>
          </a:prstGeom>
          <a:noFill/>
        </p:spPr>
        <p:txBody>
          <a:bodyPr wrap="square" rtlCol="0">
            <a:spAutoFit/>
          </a:bodyPr>
          <a:lstStyle/>
          <a:p>
            <a:pPr algn="just"/>
            <a:r>
              <a:rPr lang="en-US" dirty="0"/>
              <a:t>3. Calculate the gradient of cost function.</a:t>
            </a:r>
          </a:p>
        </p:txBody>
      </p:sp>
      <p:sp>
        <p:nvSpPr>
          <p:cNvPr id="7" name="TextBox 6">
            <a:extLst>
              <a:ext uri="{FF2B5EF4-FFF2-40B4-BE49-F238E27FC236}">
                <a16:creationId xmlns:a16="http://schemas.microsoft.com/office/drawing/2014/main" id="{33F6EEE3-7EBD-E9F7-F662-71B9A1D470E2}"/>
              </a:ext>
            </a:extLst>
          </p:cNvPr>
          <p:cNvSpPr txBox="1"/>
          <p:nvPr/>
        </p:nvSpPr>
        <p:spPr>
          <a:xfrm>
            <a:off x="777550" y="3741520"/>
            <a:ext cx="4354287" cy="646331"/>
          </a:xfrm>
          <a:prstGeom prst="rect">
            <a:avLst/>
          </a:prstGeom>
          <a:noFill/>
        </p:spPr>
        <p:txBody>
          <a:bodyPr wrap="square" rtlCol="0">
            <a:spAutoFit/>
          </a:bodyPr>
          <a:lstStyle/>
          <a:p>
            <a:pPr algn="just"/>
            <a:r>
              <a:rPr lang="en-US" dirty="0"/>
              <a:t>4. Update the weights with new values.</a:t>
            </a:r>
          </a:p>
        </p:txBody>
      </p:sp>
      <p:sp>
        <p:nvSpPr>
          <p:cNvPr id="9" name="TextBox 8">
            <a:extLst>
              <a:ext uri="{FF2B5EF4-FFF2-40B4-BE49-F238E27FC236}">
                <a16:creationId xmlns:a16="http://schemas.microsoft.com/office/drawing/2014/main" id="{A4A28AC8-9653-58BB-C60C-4CADBABA1BBF}"/>
              </a:ext>
            </a:extLst>
          </p:cNvPr>
          <p:cNvSpPr txBox="1"/>
          <p:nvPr/>
        </p:nvSpPr>
        <p:spPr>
          <a:xfrm>
            <a:off x="777552" y="4614241"/>
            <a:ext cx="4354286" cy="646331"/>
          </a:xfrm>
          <a:prstGeom prst="rect">
            <a:avLst/>
          </a:prstGeom>
          <a:noFill/>
        </p:spPr>
        <p:txBody>
          <a:bodyPr wrap="square" rtlCol="0">
            <a:spAutoFit/>
          </a:bodyPr>
          <a:lstStyle/>
          <a:p>
            <a:pPr algn="just"/>
            <a:r>
              <a:rPr lang="en-US" dirty="0"/>
              <a:t>5. Go to step 2 until cost is small enough.</a:t>
            </a:r>
          </a:p>
        </p:txBody>
      </p:sp>
      <p:sp>
        <p:nvSpPr>
          <p:cNvPr id="10" name="TextBox 9">
            <a:extLst>
              <a:ext uri="{FF2B5EF4-FFF2-40B4-BE49-F238E27FC236}">
                <a16:creationId xmlns:a16="http://schemas.microsoft.com/office/drawing/2014/main" id="{D91D3DC4-B3C3-7741-A72B-E589C17240E3}"/>
              </a:ext>
            </a:extLst>
          </p:cNvPr>
          <p:cNvSpPr txBox="1"/>
          <p:nvPr/>
        </p:nvSpPr>
        <p:spPr>
          <a:xfrm>
            <a:off x="777551" y="5733500"/>
            <a:ext cx="4354286" cy="369332"/>
          </a:xfrm>
          <a:prstGeom prst="rect">
            <a:avLst/>
          </a:prstGeom>
          <a:noFill/>
        </p:spPr>
        <p:txBody>
          <a:bodyPr wrap="square" rtlCol="0">
            <a:spAutoFit/>
          </a:bodyPr>
          <a:lstStyle/>
          <a:p>
            <a:pPr algn="just"/>
            <a:r>
              <a:rPr lang="en-US" dirty="0">
                <a:highlight>
                  <a:srgbClr val="00FF00"/>
                </a:highlight>
              </a:rPr>
              <a:t>6. Predict the speaker </a:t>
            </a:r>
          </a:p>
        </p:txBody>
      </p:sp>
      <p:pic>
        <p:nvPicPr>
          <p:cNvPr id="12" name="Picture 11">
            <a:extLst>
              <a:ext uri="{FF2B5EF4-FFF2-40B4-BE49-F238E27FC236}">
                <a16:creationId xmlns:a16="http://schemas.microsoft.com/office/drawing/2014/main" id="{818AC967-024B-08ED-1B81-68F967C93334}"/>
              </a:ext>
            </a:extLst>
          </p:cNvPr>
          <p:cNvPicPr>
            <a:picLocks noChangeAspect="1"/>
          </p:cNvPicPr>
          <p:nvPr/>
        </p:nvPicPr>
        <p:blipFill>
          <a:blip r:embed="rId2"/>
          <a:stretch>
            <a:fillRect/>
          </a:stretch>
        </p:blipFill>
        <p:spPr>
          <a:xfrm>
            <a:off x="6024496" y="5738045"/>
            <a:ext cx="2223767" cy="532135"/>
          </a:xfrm>
          <a:prstGeom prst="rect">
            <a:avLst/>
          </a:prstGeom>
        </p:spPr>
      </p:pic>
      <p:pic>
        <p:nvPicPr>
          <p:cNvPr id="16" name="Picture 15">
            <a:extLst>
              <a:ext uri="{FF2B5EF4-FFF2-40B4-BE49-F238E27FC236}">
                <a16:creationId xmlns:a16="http://schemas.microsoft.com/office/drawing/2014/main" id="{525F4110-BD29-F282-652B-F35188A8A283}"/>
              </a:ext>
            </a:extLst>
          </p:cNvPr>
          <p:cNvPicPr>
            <a:picLocks noChangeAspect="1"/>
          </p:cNvPicPr>
          <p:nvPr/>
        </p:nvPicPr>
        <p:blipFill>
          <a:blip r:embed="rId3"/>
          <a:stretch>
            <a:fillRect/>
          </a:stretch>
        </p:blipFill>
        <p:spPr>
          <a:xfrm>
            <a:off x="6634060" y="1081330"/>
            <a:ext cx="2867425" cy="352474"/>
          </a:xfrm>
          <a:prstGeom prst="rect">
            <a:avLst/>
          </a:prstGeom>
        </p:spPr>
      </p:pic>
      <p:sp>
        <p:nvSpPr>
          <p:cNvPr id="17" name="TextBox 16">
            <a:extLst>
              <a:ext uri="{FF2B5EF4-FFF2-40B4-BE49-F238E27FC236}">
                <a16:creationId xmlns:a16="http://schemas.microsoft.com/office/drawing/2014/main" id="{354A9B33-E90A-A6CD-5FBD-FCCE2081EEF3}"/>
              </a:ext>
            </a:extLst>
          </p:cNvPr>
          <p:cNvSpPr txBox="1"/>
          <p:nvPr/>
        </p:nvSpPr>
        <p:spPr>
          <a:xfrm>
            <a:off x="9501485" y="1035697"/>
            <a:ext cx="836828" cy="461665"/>
          </a:xfrm>
          <a:prstGeom prst="rect">
            <a:avLst/>
          </a:prstGeom>
          <a:noFill/>
        </p:spPr>
        <p:txBody>
          <a:bodyPr wrap="square" rtlCol="0">
            <a:spAutoFit/>
          </a:bodyPr>
          <a:lstStyle/>
          <a:p>
            <a:r>
              <a:rPr lang="en-US" sz="2400" dirty="0">
                <a:solidFill>
                  <a:srgbClr val="00B0F0"/>
                </a:solidFill>
                <a:latin typeface="Bell MT" panose="02020503060305020303" pitchFamily="18" charset="0"/>
              </a:rPr>
              <a:t>, b</a:t>
            </a:r>
          </a:p>
        </p:txBody>
      </p:sp>
      <p:pic>
        <p:nvPicPr>
          <p:cNvPr id="19" name="Picture 18">
            <a:extLst>
              <a:ext uri="{FF2B5EF4-FFF2-40B4-BE49-F238E27FC236}">
                <a16:creationId xmlns:a16="http://schemas.microsoft.com/office/drawing/2014/main" id="{597AFA02-FE03-85D0-10E8-F19C4A4F6F31}"/>
              </a:ext>
            </a:extLst>
          </p:cNvPr>
          <p:cNvPicPr>
            <a:picLocks noChangeAspect="1"/>
          </p:cNvPicPr>
          <p:nvPr/>
        </p:nvPicPr>
        <p:blipFill>
          <a:blip r:embed="rId4"/>
          <a:stretch>
            <a:fillRect/>
          </a:stretch>
        </p:blipFill>
        <p:spPr>
          <a:xfrm>
            <a:off x="5423999" y="1712176"/>
            <a:ext cx="6590717" cy="850127"/>
          </a:xfrm>
          <a:prstGeom prst="rect">
            <a:avLst/>
          </a:prstGeom>
        </p:spPr>
      </p:pic>
      <p:pic>
        <p:nvPicPr>
          <p:cNvPr id="21" name="Picture 20">
            <a:extLst>
              <a:ext uri="{FF2B5EF4-FFF2-40B4-BE49-F238E27FC236}">
                <a16:creationId xmlns:a16="http://schemas.microsoft.com/office/drawing/2014/main" id="{5975F45A-5426-C174-56AE-98D46866C01B}"/>
              </a:ext>
            </a:extLst>
          </p:cNvPr>
          <p:cNvPicPr>
            <a:picLocks noChangeAspect="1"/>
          </p:cNvPicPr>
          <p:nvPr/>
        </p:nvPicPr>
        <p:blipFill>
          <a:blip r:embed="rId5"/>
          <a:stretch>
            <a:fillRect/>
          </a:stretch>
        </p:blipFill>
        <p:spPr>
          <a:xfrm>
            <a:off x="5423999" y="2895369"/>
            <a:ext cx="5409804" cy="1718871"/>
          </a:xfrm>
          <a:prstGeom prst="rect">
            <a:avLst/>
          </a:prstGeom>
        </p:spPr>
      </p:pic>
    </p:spTree>
    <p:extLst>
      <p:ext uri="{BB962C8B-B14F-4D97-AF65-F5344CB8AC3E}">
        <p14:creationId xmlns:p14="http://schemas.microsoft.com/office/powerpoint/2010/main" val="2665737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anim calcmode="lin" valueType="num">
                                      <p:cBhvr>
                                        <p:cTn id="8" dur="250" fill="hold"/>
                                        <p:tgtEl>
                                          <p:spTgt spid="2"/>
                                        </p:tgtEl>
                                        <p:attrNameLst>
                                          <p:attrName>ppt_x</p:attrName>
                                        </p:attrNameLst>
                                      </p:cBhvr>
                                      <p:tavLst>
                                        <p:tav tm="0">
                                          <p:val>
                                            <p:strVal val="#ppt_x"/>
                                          </p:val>
                                        </p:tav>
                                        <p:tav tm="100000">
                                          <p:val>
                                            <p:strVal val="#ppt_x"/>
                                          </p:val>
                                        </p:tav>
                                      </p:tavLst>
                                    </p:anim>
                                    <p:anim calcmode="lin" valueType="num">
                                      <p:cBhvr>
                                        <p:cTn id="9" dur="25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250"/>
                                        <p:tgtEl>
                                          <p:spTgt spid="16"/>
                                        </p:tgtEl>
                                      </p:cBhvr>
                                    </p:animEffect>
                                    <p:anim calcmode="lin" valueType="num">
                                      <p:cBhvr>
                                        <p:cTn id="13" dur="250" fill="hold"/>
                                        <p:tgtEl>
                                          <p:spTgt spid="16"/>
                                        </p:tgtEl>
                                        <p:attrNameLst>
                                          <p:attrName>ppt_x</p:attrName>
                                        </p:attrNameLst>
                                      </p:cBhvr>
                                      <p:tavLst>
                                        <p:tav tm="0">
                                          <p:val>
                                            <p:strVal val="#ppt_x"/>
                                          </p:val>
                                        </p:tav>
                                        <p:tav tm="100000">
                                          <p:val>
                                            <p:strVal val="#ppt_x"/>
                                          </p:val>
                                        </p:tav>
                                      </p:tavLst>
                                    </p:anim>
                                    <p:anim calcmode="lin" valueType="num">
                                      <p:cBhvr>
                                        <p:cTn id="14" dur="250" fill="hold"/>
                                        <p:tgtEl>
                                          <p:spTgt spid="1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250"/>
                                        <p:tgtEl>
                                          <p:spTgt spid="17"/>
                                        </p:tgtEl>
                                      </p:cBhvr>
                                    </p:animEffect>
                                    <p:anim calcmode="lin" valueType="num">
                                      <p:cBhvr>
                                        <p:cTn id="18" dur="250" fill="hold"/>
                                        <p:tgtEl>
                                          <p:spTgt spid="17"/>
                                        </p:tgtEl>
                                        <p:attrNameLst>
                                          <p:attrName>ppt_x</p:attrName>
                                        </p:attrNameLst>
                                      </p:cBhvr>
                                      <p:tavLst>
                                        <p:tav tm="0">
                                          <p:val>
                                            <p:strVal val="#ppt_x"/>
                                          </p:val>
                                        </p:tav>
                                        <p:tav tm="100000">
                                          <p:val>
                                            <p:strVal val="#ppt_x"/>
                                          </p:val>
                                        </p:tav>
                                      </p:tavLst>
                                    </p:anim>
                                    <p:anim calcmode="lin" valueType="num">
                                      <p:cBhvr>
                                        <p:cTn id="19" dur="25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250" fill="hold"/>
                                        <p:tgtEl>
                                          <p:spTgt spid="3"/>
                                        </p:tgtEl>
                                        <p:attrNameLst>
                                          <p:attrName>ppt_x</p:attrName>
                                        </p:attrNameLst>
                                      </p:cBhvr>
                                      <p:tavLst>
                                        <p:tav tm="0">
                                          <p:val>
                                            <p:strVal val="#ppt_x"/>
                                          </p:val>
                                        </p:tav>
                                        <p:tav tm="100000">
                                          <p:val>
                                            <p:strVal val="#ppt_x"/>
                                          </p:val>
                                        </p:tav>
                                      </p:tavLst>
                                    </p:anim>
                                    <p:anim calcmode="lin" valueType="num">
                                      <p:cBhvr additive="base">
                                        <p:cTn id="25" dur="250" fill="hold"/>
                                        <p:tgtEl>
                                          <p:spTgt spid="3"/>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 calcmode="lin" valueType="num">
                                      <p:cBhvr additive="base">
                                        <p:cTn id="28" dur="250" fill="hold"/>
                                        <p:tgtEl>
                                          <p:spTgt spid="19"/>
                                        </p:tgtEl>
                                        <p:attrNameLst>
                                          <p:attrName>ppt_x</p:attrName>
                                        </p:attrNameLst>
                                      </p:cBhvr>
                                      <p:tavLst>
                                        <p:tav tm="0">
                                          <p:val>
                                            <p:strVal val="#ppt_x"/>
                                          </p:val>
                                        </p:tav>
                                        <p:tav tm="100000">
                                          <p:val>
                                            <p:strVal val="#ppt_x"/>
                                          </p:val>
                                        </p:tav>
                                      </p:tavLst>
                                    </p:anim>
                                    <p:anim calcmode="lin" valueType="num">
                                      <p:cBhvr additive="base">
                                        <p:cTn id="29" dur="25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6"/>
                                        </p:tgtEl>
                                        <p:attrNameLst>
                                          <p:attrName>style.visibility</p:attrName>
                                        </p:attrNameLst>
                                      </p:cBhvr>
                                      <p:to>
                                        <p:strVal val="visible"/>
                                      </p:to>
                                    </p:set>
                                    <p:anim calcmode="lin" valueType="num">
                                      <p:cBhvr additive="base">
                                        <p:cTn id="34" dur="250" fill="hold"/>
                                        <p:tgtEl>
                                          <p:spTgt spid="6"/>
                                        </p:tgtEl>
                                        <p:attrNameLst>
                                          <p:attrName>ppt_x</p:attrName>
                                        </p:attrNameLst>
                                      </p:cBhvr>
                                      <p:tavLst>
                                        <p:tav tm="0">
                                          <p:val>
                                            <p:strVal val="#ppt_x"/>
                                          </p:val>
                                        </p:tav>
                                        <p:tav tm="100000">
                                          <p:val>
                                            <p:strVal val="#ppt_x"/>
                                          </p:val>
                                        </p:tav>
                                      </p:tavLst>
                                    </p:anim>
                                    <p:anim calcmode="lin" valueType="num">
                                      <p:cBhvr additive="base">
                                        <p:cTn id="35" dur="250" fill="hold"/>
                                        <p:tgtEl>
                                          <p:spTgt spid="6"/>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additive="base">
                                        <p:cTn id="38" dur="250" fill="hold"/>
                                        <p:tgtEl>
                                          <p:spTgt spid="7"/>
                                        </p:tgtEl>
                                        <p:attrNameLst>
                                          <p:attrName>ppt_x</p:attrName>
                                        </p:attrNameLst>
                                      </p:cBhvr>
                                      <p:tavLst>
                                        <p:tav tm="0">
                                          <p:val>
                                            <p:strVal val="#ppt_x"/>
                                          </p:val>
                                        </p:tav>
                                        <p:tav tm="100000">
                                          <p:val>
                                            <p:strVal val="#ppt_x"/>
                                          </p:val>
                                        </p:tav>
                                      </p:tavLst>
                                    </p:anim>
                                    <p:anim calcmode="lin" valueType="num">
                                      <p:cBhvr additive="base">
                                        <p:cTn id="39" dur="250" fill="hold"/>
                                        <p:tgtEl>
                                          <p:spTgt spid="7"/>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21"/>
                                        </p:tgtEl>
                                        <p:attrNameLst>
                                          <p:attrName>style.visibility</p:attrName>
                                        </p:attrNameLst>
                                      </p:cBhvr>
                                      <p:to>
                                        <p:strVal val="visible"/>
                                      </p:to>
                                    </p:set>
                                    <p:anim calcmode="lin" valueType="num">
                                      <p:cBhvr additive="base">
                                        <p:cTn id="42" dur="250" fill="hold"/>
                                        <p:tgtEl>
                                          <p:spTgt spid="21"/>
                                        </p:tgtEl>
                                        <p:attrNameLst>
                                          <p:attrName>ppt_x</p:attrName>
                                        </p:attrNameLst>
                                      </p:cBhvr>
                                      <p:tavLst>
                                        <p:tav tm="0">
                                          <p:val>
                                            <p:strVal val="#ppt_x"/>
                                          </p:val>
                                        </p:tav>
                                        <p:tav tm="100000">
                                          <p:val>
                                            <p:strVal val="#ppt_x"/>
                                          </p:val>
                                        </p:tav>
                                      </p:tavLst>
                                    </p:anim>
                                    <p:anim calcmode="lin" valueType="num">
                                      <p:cBhvr additive="base">
                                        <p:cTn id="43" dur="25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5" presetClass="entr" presetSubtype="0" fill="hold" grpId="0"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250"/>
                                        <p:tgtEl>
                                          <p:spTgt spid="9"/>
                                        </p:tgtEl>
                                      </p:cBhvr>
                                    </p:animEffect>
                                    <p:anim calcmode="lin" valueType="num">
                                      <p:cBhvr>
                                        <p:cTn id="49" dur="250" fill="hold"/>
                                        <p:tgtEl>
                                          <p:spTgt spid="9"/>
                                        </p:tgtEl>
                                        <p:attrNameLst>
                                          <p:attrName>ppt_w</p:attrName>
                                        </p:attrNameLst>
                                      </p:cBhvr>
                                      <p:tavLst>
                                        <p:tav tm="0" fmla="#ppt_w*sin(2.5*pi*$)">
                                          <p:val>
                                            <p:fltVal val="0"/>
                                          </p:val>
                                        </p:tav>
                                        <p:tav tm="100000">
                                          <p:val>
                                            <p:fltVal val="1"/>
                                          </p:val>
                                        </p:tav>
                                      </p:tavLst>
                                    </p:anim>
                                    <p:anim calcmode="lin" valueType="num">
                                      <p:cBhvr>
                                        <p:cTn id="50" dur="25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27" presetClass="emph" presetSubtype="0" fill="remove" grpId="0" nodeType="clickEffect">
                                  <p:stCondLst>
                                    <p:cond delay="0"/>
                                  </p:stCondLst>
                                  <p:childTnLst>
                                    <p:animClr clrSpc="rgb" dir="cw">
                                      <p:cBhvr override="childStyle">
                                        <p:cTn id="54" dur="250" autoRev="1" fill="remove"/>
                                        <p:tgtEl>
                                          <p:spTgt spid="10"/>
                                        </p:tgtEl>
                                        <p:attrNameLst>
                                          <p:attrName>style.color</p:attrName>
                                        </p:attrNameLst>
                                      </p:cBhvr>
                                      <p:to>
                                        <a:schemeClr val="bg1"/>
                                      </p:to>
                                    </p:animClr>
                                    <p:animClr clrSpc="rgb" dir="cw">
                                      <p:cBhvr>
                                        <p:cTn id="55" dur="250" autoRev="1" fill="remove"/>
                                        <p:tgtEl>
                                          <p:spTgt spid="10"/>
                                        </p:tgtEl>
                                        <p:attrNameLst>
                                          <p:attrName>fillcolor</p:attrName>
                                        </p:attrNameLst>
                                      </p:cBhvr>
                                      <p:to>
                                        <a:schemeClr val="bg1"/>
                                      </p:to>
                                    </p:animClr>
                                    <p:set>
                                      <p:cBhvr>
                                        <p:cTn id="56" dur="250" autoRev="1" fill="remove"/>
                                        <p:tgtEl>
                                          <p:spTgt spid="10"/>
                                        </p:tgtEl>
                                        <p:attrNameLst>
                                          <p:attrName>fill.type</p:attrName>
                                        </p:attrNameLst>
                                      </p:cBhvr>
                                      <p:to>
                                        <p:strVal val="solid"/>
                                      </p:to>
                                    </p:set>
                                    <p:set>
                                      <p:cBhvr>
                                        <p:cTn id="57" dur="250" autoRev="1" fill="remove"/>
                                        <p:tgtEl>
                                          <p:spTgt spid="10"/>
                                        </p:tgtEl>
                                        <p:attrNameLst>
                                          <p:attrName>fill.on</p:attrName>
                                        </p:attrNameLst>
                                      </p:cBhvr>
                                      <p:to>
                                        <p:strVal val="true"/>
                                      </p:to>
                                    </p:set>
                                  </p:childTnLst>
                                </p:cTn>
                              </p:par>
                              <p:par>
                                <p:cTn id="58" presetID="27" presetClass="emph" presetSubtype="0" fill="remove" nodeType="withEffect">
                                  <p:stCondLst>
                                    <p:cond delay="0"/>
                                  </p:stCondLst>
                                  <p:childTnLst>
                                    <p:animClr clrSpc="rgb" dir="cw">
                                      <p:cBhvr override="childStyle">
                                        <p:cTn id="59" dur="250" autoRev="1" fill="remove"/>
                                        <p:tgtEl>
                                          <p:spTgt spid="12"/>
                                        </p:tgtEl>
                                        <p:attrNameLst>
                                          <p:attrName>style.color</p:attrName>
                                        </p:attrNameLst>
                                      </p:cBhvr>
                                      <p:to>
                                        <a:schemeClr val="bg1"/>
                                      </p:to>
                                    </p:animClr>
                                    <p:animClr clrSpc="rgb" dir="cw">
                                      <p:cBhvr>
                                        <p:cTn id="60" dur="250" autoRev="1" fill="remove"/>
                                        <p:tgtEl>
                                          <p:spTgt spid="12"/>
                                        </p:tgtEl>
                                        <p:attrNameLst>
                                          <p:attrName>fillcolor</p:attrName>
                                        </p:attrNameLst>
                                      </p:cBhvr>
                                      <p:to>
                                        <a:schemeClr val="bg1"/>
                                      </p:to>
                                    </p:animClr>
                                    <p:set>
                                      <p:cBhvr>
                                        <p:cTn id="61" dur="250" autoRev="1" fill="remove"/>
                                        <p:tgtEl>
                                          <p:spTgt spid="12"/>
                                        </p:tgtEl>
                                        <p:attrNameLst>
                                          <p:attrName>fill.type</p:attrName>
                                        </p:attrNameLst>
                                      </p:cBhvr>
                                      <p:to>
                                        <p:strVal val="solid"/>
                                      </p:to>
                                    </p:set>
                                    <p:set>
                                      <p:cBhvr>
                                        <p:cTn id="62" dur="250" autoRev="1" fill="remove"/>
                                        <p:tgtEl>
                                          <p:spTgt spid="1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P spid="7" grpId="0"/>
      <p:bldP spid="9" grpId="0"/>
      <p:bldP spid="10"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7EB65-86BA-812F-C337-2DCDFE64E8C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5D5E240-7593-777D-C032-93B76A2F097A}"/>
              </a:ext>
            </a:extLst>
          </p:cNvPr>
          <p:cNvSpPr>
            <a:spLocks noGrp="1"/>
          </p:cNvSpPr>
          <p:nvPr>
            <p:ph type="title"/>
          </p:nvPr>
        </p:nvSpPr>
        <p:spPr>
          <a:xfrm>
            <a:off x="2247122" y="110926"/>
            <a:ext cx="7697755" cy="850127"/>
          </a:xfrm>
        </p:spPr>
        <p:txBody>
          <a:bodyPr/>
          <a:lstStyle/>
          <a:p>
            <a:pPr algn="ctr"/>
            <a:r>
              <a:rPr lang="en-US" dirty="0"/>
              <a:t>Choosing a model</a:t>
            </a:r>
          </a:p>
        </p:txBody>
      </p:sp>
      <p:pic>
        <p:nvPicPr>
          <p:cNvPr id="3" name="Picture 2">
            <a:extLst>
              <a:ext uri="{FF2B5EF4-FFF2-40B4-BE49-F238E27FC236}">
                <a16:creationId xmlns:a16="http://schemas.microsoft.com/office/drawing/2014/main" id="{7F554323-310F-2F5B-A2A6-ACDE4B49F281}"/>
              </a:ext>
            </a:extLst>
          </p:cNvPr>
          <p:cNvPicPr>
            <a:picLocks noChangeAspect="1"/>
          </p:cNvPicPr>
          <p:nvPr/>
        </p:nvPicPr>
        <p:blipFill>
          <a:blip r:embed="rId2"/>
          <a:stretch>
            <a:fillRect/>
          </a:stretch>
        </p:blipFill>
        <p:spPr>
          <a:xfrm>
            <a:off x="1649945" y="998277"/>
            <a:ext cx="9164235" cy="1456715"/>
          </a:xfrm>
          <a:prstGeom prst="rect">
            <a:avLst/>
          </a:prstGeom>
        </p:spPr>
      </p:pic>
      <p:sp>
        <p:nvSpPr>
          <p:cNvPr id="5" name="TextBox 4">
            <a:extLst>
              <a:ext uri="{FF2B5EF4-FFF2-40B4-BE49-F238E27FC236}">
                <a16:creationId xmlns:a16="http://schemas.microsoft.com/office/drawing/2014/main" id="{21DEA2B9-1381-76CB-25F6-153E9A041B94}"/>
              </a:ext>
            </a:extLst>
          </p:cNvPr>
          <p:cNvSpPr txBox="1"/>
          <p:nvPr/>
        </p:nvSpPr>
        <p:spPr>
          <a:xfrm>
            <a:off x="2174033" y="2549128"/>
            <a:ext cx="8266922" cy="3985706"/>
          </a:xfrm>
          <a:prstGeom prst="rect">
            <a:avLst/>
          </a:prstGeom>
          <a:noFill/>
        </p:spPr>
        <p:txBody>
          <a:bodyPr wrap="square" rtlCol="0">
            <a:spAutoFit/>
          </a:bodyPr>
          <a:lstStyle/>
          <a:p>
            <a:pPr algn="just"/>
            <a:r>
              <a:rPr lang="en-US" sz="2200" b="1" dirty="0"/>
              <a:t>Why didn’t we choose support vector machine :</a:t>
            </a:r>
            <a:r>
              <a:rPr lang="en-US" sz="2200" dirty="0"/>
              <a:t> </a:t>
            </a:r>
          </a:p>
          <a:p>
            <a:pPr marL="342900" indent="-342900" algn="just">
              <a:buFont typeface="+mj-lt"/>
              <a:buAutoNum type="arabicPeriod"/>
            </a:pPr>
            <a:r>
              <a:rPr lang="en-US" sz="2100" dirty="0" err="1"/>
              <a:t>Svm</a:t>
            </a:r>
            <a:r>
              <a:rPr lang="en-US" sz="2100" dirty="0"/>
              <a:t> is computationally expensive.</a:t>
            </a:r>
          </a:p>
          <a:p>
            <a:pPr marL="342900" indent="-342900" algn="just">
              <a:buFont typeface="+mj-lt"/>
              <a:buAutoNum type="arabicPeriod"/>
            </a:pPr>
            <a:r>
              <a:rPr lang="en-US" sz="2100" dirty="0"/>
              <a:t>Since it’s a large margin classifier, outliers in data can throw off the decision boundary very easily.</a:t>
            </a:r>
          </a:p>
          <a:p>
            <a:pPr marL="342900" indent="-342900" algn="just">
              <a:buFont typeface="+mj-lt"/>
              <a:buAutoNum type="arabicPeriod"/>
            </a:pPr>
            <a:r>
              <a:rPr lang="en-US" sz="2100" dirty="0"/>
              <a:t>The choice of kernel can greatly affect the performance of an SVM, and it can be difficult to determine the best kernel for a given dataset.</a:t>
            </a:r>
          </a:p>
          <a:p>
            <a:pPr marL="342900" indent="-342900" algn="just">
              <a:buFont typeface="+mj-lt"/>
              <a:buAutoNum type="arabicPeriod"/>
            </a:pPr>
            <a:r>
              <a:rPr lang="en-US" sz="2100" dirty="0"/>
              <a:t>SVMs can be sensitive to the choice of parameters, such as the regularization parameter, and it can be difficult to determine the optimal parameter values for a given dataset.</a:t>
            </a:r>
          </a:p>
          <a:p>
            <a:pPr marL="342900" indent="-342900" algn="just">
              <a:buFont typeface="+mj-lt"/>
              <a:buAutoNum type="arabicPeriod"/>
            </a:pPr>
            <a:r>
              <a:rPr lang="en-US" sz="2100" dirty="0"/>
              <a:t>Very complex, hard to understand algorithm.</a:t>
            </a:r>
          </a:p>
        </p:txBody>
      </p:sp>
    </p:spTree>
    <p:extLst>
      <p:ext uri="{BB962C8B-B14F-4D97-AF65-F5344CB8AC3E}">
        <p14:creationId xmlns:p14="http://schemas.microsoft.com/office/powerpoint/2010/main" val="2857355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5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44BB1-4FF2-E736-93B0-A322216C9C6A}"/>
              </a:ext>
            </a:extLst>
          </p:cNvPr>
          <p:cNvSpPr txBox="1">
            <a:spLocks/>
          </p:cNvSpPr>
          <p:nvPr/>
        </p:nvSpPr>
        <p:spPr>
          <a:xfrm>
            <a:off x="2624241" y="1667945"/>
            <a:ext cx="4633466" cy="1092999"/>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Evaluate the Model</a:t>
            </a:r>
            <a:br>
              <a:rPr lang="en-US"/>
            </a:br>
            <a:r>
              <a:rPr lang="en-US" sz="2300">
                <a:ea typeface="+mj-lt"/>
                <a:cs typeface="+mj-lt"/>
              </a:rPr>
              <a:t>Validation and Test Sets</a:t>
            </a:r>
            <a:endParaRPr lang="en-US" sz="2300" dirty="0"/>
          </a:p>
        </p:txBody>
      </p:sp>
      <p:sp>
        <p:nvSpPr>
          <p:cNvPr id="3" name="TextBox 2">
            <a:extLst>
              <a:ext uri="{FF2B5EF4-FFF2-40B4-BE49-F238E27FC236}">
                <a16:creationId xmlns:a16="http://schemas.microsoft.com/office/drawing/2014/main" id="{485AA35B-C024-DFF6-44E5-10ABD802D84F}"/>
              </a:ext>
            </a:extLst>
          </p:cNvPr>
          <p:cNvSpPr txBox="1"/>
          <p:nvPr/>
        </p:nvSpPr>
        <p:spPr>
          <a:xfrm>
            <a:off x="2620528" y="2948603"/>
            <a:ext cx="4637179" cy="1647386"/>
          </a:xfrm>
          <a:prstGeom prst="rect">
            <a:avLst/>
          </a:prstGeom>
        </p:spPr>
        <p:txBody>
          <a:bodyPr vert="horz" lIns="91440" tIns="45720" rIns="91440" bIns="45720" rtlCol="0" anchor="t">
            <a:normAutofit/>
          </a:bodyPr>
          <a:lstStyle/>
          <a:p>
            <a:pPr>
              <a:buClr>
                <a:schemeClr val="accent1"/>
              </a:buClr>
              <a:buFont typeface="Arial" charset="2"/>
              <a:buChar char="•"/>
            </a:pPr>
            <a:r>
              <a:rPr lang="en-US" b="1" dirty="0">
                <a:solidFill>
                  <a:schemeClr val="tx1">
                    <a:lumMod val="75000"/>
                    <a:lumOff val="25000"/>
                  </a:schemeClr>
                </a:solidFill>
                <a:ea typeface="+mn-lt"/>
                <a:cs typeface="+mn-lt"/>
              </a:rPr>
              <a:t>Validation Accuracy:</a:t>
            </a:r>
            <a:r>
              <a:rPr lang="en-US" dirty="0">
                <a:solidFill>
                  <a:schemeClr val="tx1">
                    <a:lumMod val="75000"/>
                    <a:lumOff val="25000"/>
                  </a:schemeClr>
                </a:solidFill>
                <a:ea typeface="+mn-lt"/>
                <a:cs typeface="+mn-lt"/>
              </a:rPr>
              <a:t> 90.00%</a:t>
            </a:r>
          </a:p>
          <a:p>
            <a:pPr>
              <a:buFont typeface="Arial" charset="2"/>
              <a:buChar char="•"/>
            </a:pPr>
            <a:r>
              <a:rPr lang="en-US" b="1" dirty="0">
                <a:solidFill>
                  <a:schemeClr val="tx1">
                    <a:lumMod val="75000"/>
                    <a:lumOff val="25000"/>
                  </a:schemeClr>
                </a:solidFill>
                <a:ea typeface="+mn-lt"/>
                <a:cs typeface="+mn-lt"/>
              </a:rPr>
              <a:t>Test Accuracy:</a:t>
            </a:r>
            <a:r>
              <a:rPr lang="en-US" dirty="0">
                <a:solidFill>
                  <a:schemeClr val="tx1">
                    <a:lumMod val="75000"/>
                    <a:lumOff val="25000"/>
                  </a:schemeClr>
                </a:solidFill>
                <a:ea typeface="+mn-lt"/>
                <a:cs typeface="+mn-lt"/>
              </a:rPr>
              <a:t> 84.34%</a:t>
            </a:r>
            <a:endParaRPr lang="en-US" dirty="0">
              <a:solidFill>
                <a:schemeClr val="tx1">
                  <a:lumMod val="75000"/>
                  <a:lumOff val="25000"/>
                </a:schemeClr>
              </a:solidFill>
            </a:endParaRPr>
          </a:p>
          <a:p>
            <a:pPr>
              <a:buFont typeface="Arial" charset="2"/>
              <a:buChar char="•"/>
            </a:pPr>
            <a:r>
              <a:rPr lang="en-US" b="1" dirty="0">
                <a:solidFill>
                  <a:schemeClr val="tx1">
                    <a:lumMod val="75000"/>
                    <a:lumOff val="25000"/>
                  </a:schemeClr>
                </a:solidFill>
                <a:ea typeface="+mn-lt"/>
                <a:cs typeface="+mn-lt"/>
              </a:rPr>
              <a:t>Indicates effective learning and good generalization of the model.</a:t>
            </a:r>
          </a:p>
        </p:txBody>
      </p:sp>
      <p:pic>
        <p:nvPicPr>
          <p:cNvPr id="4" name="Picture 3">
            <a:extLst>
              <a:ext uri="{FF2B5EF4-FFF2-40B4-BE49-F238E27FC236}">
                <a16:creationId xmlns:a16="http://schemas.microsoft.com/office/drawing/2014/main" id="{A31E9D81-86A6-C1EC-DB72-DA74D780E786}"/>
              </a:ext>
            </a:extLst>
          </p:cNvPr>
          <p:cNvPicPr>
            <a:picLocks noChangeAspect="1"/>
          </p:cNvPicPr>
          <p:nvPr/>
        </p:nvPicPr>
        <p:blipFill>
          <a:blip r:embed="rId2"/>
          <a:srcRect l="-233" r="3953" b="-74"/>
          <a:stretch/>
        </p:blipFill>
        <p:spPr>
          <a:xfrm>
            <a:off x="7562088" y="1081671"/>
            <a:ext cx="3553484" cy="2273872"/>
          </a:xfrm>
          <a:prstGeom prst="rect">
            <a:avLst/>
          </a:prstGeom>
        </p:spPr>
      </p:pic>
      <p:pic>
        <p:nvPicPr>
          <p:cNvPr id="5" name="Picture 4" descr="A screenshot of a computer code">
            <a:extLst>
              <a:ext uri="{FF2B5EF4-FFF2-40B4-BE49-F238E27FC236}">
                <a16:creationId xmlns:a16="http://schemas.microsoft.com/office/drawing/2014/main" id="{F0C49415-9C46-3F23-BF92-7C3B3867F2C7}"/>
              </a:ext>
            </a:extLst>
          </p:cNvPr>
          <p:cNvPicPr>
            <a:picLocks noChangeAspect="1"/>
          </p:cNvPicPr>
          <p:nvPr/>
        </p:nvPicPr>
        <p:blipFill>
          <a:blip r:embed="rId3"/>
          <a:stretch>
            <a:fillRect/>
          </a:stretch>
        </p:blipFill>
        <p:spPr>
          <a:xfrm>
            <a:off x="7562087" y="3555085"/>
            <a:ext cx="4231975" cy="2175709"/>
          </a:xfrm>
          <a:prstGeom prst="rect">
            <a:avLst/>
          </a:prstGeom>
        </p:spPr>
      </p:pic>
    </p:spTree>
    <p:extLst>
      <p:ext uri="{BB962C8B-B14F-4D97-AF65-F5344CB8AC3E}">
        <p14:creationId xmlns:p14="http://schemas.microsoft.com/office/powerpoint/2010/main" val="736359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12C98-ACF9-900B-6470-7C459069E5CE}"/>
              </a:ext>
            </a:extLst>
          </p:cNvPr>
          <p:cNvSpPr txBox="1">
            <a:spLocks/>
          </p:cNvSpPr>
          <p:nvPr/>
        </p:nvSpPr>
        <p:spPr>
          <a:xfrm>
            <a:off x="2852607" y="345001"/>
            <a:ext cx="5683328" cy="1121523"/>
          </a:xfrm>
          <a:prstGeom prst="rect">
            <a:avLst/>
          </a:prstGeom>
        </p:spPr>
        <p:txBody>
          <a:bodyPr>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Evaluate the Model</a:t>
            </a:r>
            <a:br>
              <a:rPr lang="en-US"/>
            </a:br>
            <a:r>
              <a:rPr lang="en-US" sz="2300">
                <a:ea typeface="+mj-lt"/>
                <a:cs typeface="+mj-lt"/>
              </a:rPr>
              <a:t>Confusion Matrix</a:t>
            </a:r>
            <a:endParaRPr lang="en-US" sz="2300">
              <a:solidFill>
                <a:srgbClr val="000000"/>
              </a:solidFill>
            </a:endParaRPr>
          </a:p>
          <a:p>
            <a:pPr algn="ctr"/>
            <a:endParaRPr lang="en-US" dirty="0"/>
          </a:p>
        </p:txBody>
      </p:sp>
      <p:pic>
        <p:nvPicPr>
          <p:cNvPr id="3" name="Picture 2" descr="A screenshot of a graph&#10;&#10;Description automatically generated">
            <a:extLst>
              <a:ext uri="{FF2B5EF4-FFF2-40B4-BE49-F238E27FC236}">
                <a16:creationId xmlns:a16="http://schemas.microsoft.com/office/drawing/2014/main" id="{659A37C6-3AC9-B470-F003-8F46AD6D01FC}"/>
              </a:ext>
            </a:extLst>
          </p:cNvPr>
          <p:cNvPicPr>
            <a:picLocks noChangeAspect="1"/>
          </p:cNvPicPr>
          <p:nvPr/>
        </p:nvPicPr>
        <p:blipFill>
          <a:blip r:embed="rId2"/>
          <a:stretch>
            <a:fillRect/>
          </a:stretch>
        </p:blipFill>
        <p:spPr>
          <a:xfrm>
            <a:off x="2848006" y="1716066"/>
            <a:ext cx="5097248" cy="4114800"/>
          </a:xfrm>
          <a:prstGeom prst="rect">
            <a:avLst/>
          </a:prstGeom>
        </p:spPr>
      </p:pic>
      <p:sp>
        <p:nvSpPr>
          <p:cNvPr id="4" name="TextBox 3">
            <a:extLst>
              <a:ext uri="{FF2B5EF4-FFF2-40B4-BE49-F238E27FC236}">
                <a16:creationId xmlns:a16="http://schemas.microsoft.com/office/drawing/2014/main" id="{6D429D23-B3BE-5187-5FD4-2C2C3AB8A0B2}"/>
              </a:ext>
            </a:extLst>
          </p:cNvPr>
          <p:cNvSpPr txBox="1"/>
          <p:nvPr/>
        </p:nvSpPr>
        <p:spPr>
          <a:xfrm>
            <a:off x="8544838" y="1812100"/>
            <a:ext cx="3139857"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mn-lt"/>
                <a:cs typeface="+mn-lt"/>
              </a:rPr>
              <a:t>Confusion Matrix Axes:</a:t>
            </a:r>
            <a:endParaRPr lang="en-US" dirty="0">
              <a:ea typeface="+mn-lt"/>
              <a:cs typeface="+mn-lt"/>
            </a:endParaRPr>
          </a:p>
          <a:p>
            <a:r>
              <a:rPr lang="en-US" b="1" dirty="0">
                <a:ea typeface="+mn-lt"/>
                <a:cs typeface="+mn-lt"/>
              </a:rPr>
              <a:t>X-axis:</a:t>
            </a:r>
            <a:r>
              <a:rPr lang="en-US" dirty="0">
                <a:ea typeface="+mn-lt"/>
                <a:cs typeface="+mn-lt"/>
              </a:rPr>
              <a:t> Predicted labels.</a:t>
            </a:r>
            <a:endParaRPr lang="en-US" dirty="0"/>
          </a:p>
          <a:p>
            <a:r>
              <a:rPr lang="en-US" b="1" dirty="0">
                <a:ea typeface="+mn-lt"/>
                <a:cs typeface="+mn-lt"/>
              </a:rPr>
              <a:t>Y-axis:</a:t>
            </a:r>
            <a:r>
              <a:rPr lang="en-US" dirty="0">
                <a:ea typeface="+mn-lt"/>
                <a:cs typeface="+mn-lt"/>
              </a:rPr>
              <a:t> True labels.</a:t>
            </a:r>
            <a:endParaRPr lang="en-US" dirty="0"/>
          </a:p>
          <a:p>
            <a:pPr>
              <a:buFont typeface="Arial"/>
              <a:buChar char="•"/>
            </a:pPr>
            <a:endParaRPr lang="en-US" dirty="0">
              <a:ea typeface="+mn-lt"/>
              <a:cs typeface="+mn-lt"/>
            </a:endParaRPr>
          </a:p>
          <a:p>
            <a:r>
              <a:rPr lang="en-US" b="1" dirty="0">
                <a:ea typeface="+mn-lt"/>
                <a:cs typeface="+mn-lt"/>
              </a:rPr>
              <a:t>Key Components:</a:t>
            </a:r>
            <a:endParaRPr lang="en-US" dirty="0"/>
          </a:p>
          <a:p>
            <a:r>
              <a:rPr lang="en-US" b="1" dirty="0">
                <a:ea typeface="+mn-lt"/>
                <a:cs typeface="+mn-lt"/>
              </a:rPr>
              <a:t>Diagonal Cells:</a:t>
            </a:r>
            <a:r>
              <a:rPr lang="en-US" dirty="0">
                <a:ea typeface="+mn-lt"/>
                <a:cs typeface="+mn-lt"/>
              </a:rPr>
              <a:t> Correct predictions (true positives).</a:t>
            </a:r>
            <a:endParaRPr lang="en-US" dirty="0"/>
          </a:p>
          <a:p>
            <a:r>
              <a:rPr lang="en-US" b="1" dirty="0">
                <a:ea typeface="+mn-lt"/>
                <a:cs typeface="+mn-lt"/>
              </a:rPr>
              <a:t>Off-Diagonal Cells:</a:t>
            </a:r>
            <a:r>
              <a:rPr lang="en-US" dirty="0">
                <a:ea typeface="+mn-lt"/>
                <a:cs typeface="+mn-lt"/>
              </a:rPr>
              <a:t> Very few Misclassifications.</a:t>
            </a:r>
            <a:endParaRPr lang="en-US" dirty="0"/>
          </a:p>
          <a:p>
            <a:r>
              <a:rPr lang="en-US" b="1" dirty="0">
                <a:ea typeface="+mn-lt"/>
                <a:cs typeface="+mn-lt"/>
              </a:rPr>
              <a:t>Color Intensity:</a:t>
            </a:r>
            <a:r>
              <a:rPr lang="en-US" dirty="0">
                <a:ea typeface="+mn-lt"/>
                <a:cs typeface="+mn-lt"/>
              </a:rPr>
              <a:t> Areas where the model performs well or poorly. </a:t>
            </a:r>
          </a:p>
          <a:p>
            <a:r>
              <a:rPr lang="en-US" dirty="0">
                <a:ea typeface="+mn-lt"/>
                <a:cs typeface="+mn-lt"/>
              </a:rPr>
              <a:t>Darker = Strong Accuracy</a:t>
            </a:r>
            <a:endParaRPr lang="en-US" dirty="0"/>
          </a:p>
          <a:p>
            <a:endParaRPr lang="en-US" dirty="0">
              <a:solidFill>
                <a:srgbClr val="000000"/>
              </a:solidFill>
              <a:cs typeface="Arial"/>
            </a:endParaRPr>
          </a:p>
          <a:p>
            <a:pPr marL="228600" indent="-228600">
              <a:buFont typeface="Arial,Sans-Serif"/>
              <a:buChar char="•"/>
            </a:pPr>
            <a:endParaRPr lang="en-US" dirty="0">
              <a:solidFill>
                <a:srgbClr val="000000"/>
              </a:solidFill>
              <a:cs typeface="Arial"/>
            </a:endParaRPr>
          </a:p>
        </p:txBody>
      </p:sp>
    </p:spTree>
    <p:extLst>
      <p:ext uri="{BB962C8B-B14F-4D97-AF65-F5344CB8AC3E}">
        <p14:creationId xmlns:p14="http://schemas.microsoft.com/office/powerpoint/2010/main" val="3323811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A9FA2-A534-8D45-F29F-3E59835429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E17843-D552-51C6-E834-BEDEBAD4FA1D}"/>
              </a:ext>
            </a:extLst>
          </p:cNvPr>
          <p:cNvSpPr txBox="1">
            <a:spLocks/>
          </p:cNvSpPr>
          <p:nvPr/>
        </p:nvSpPr>
        <p:spPr>
          <a:xfrm>
            <a:off x="2852607" y="345001"/>
            <a:ext cx="5683328" cy="1121523"/>
          </a:xfrm>
          <a:prstGeom prst="rect">
            <a:avLst/>
          </a:prstGeom>
        </p:spPr>
        <p:txBody>
          <a:bodyPr>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Evaluate the Model</a:t>
            </a:r>
            <a:br>
              <a:rPr lang="en-US"/>
            </a:br>
            <a:r>
              <a:rPr lang="en-US" sz="2300">
                <a:ea typeface="+mj-lt"/>
                <a:cs typeface="+mj-lt"/>
              </a:rPr>
              <a:t>Confusion Matrix (Continued)</a:t>
            </a:r>
            <a:endParaRPr lang="en-US" sz="2300">
              <a:solidFill>
                <a:srgbClr val="000000"/>
              </a:solidFill>
            </a:endParaRPr>
          </a:p>
          <a:p>
            <a:pPr algn="ctr"/>
            <a:endParaRPr lang="en-US" dirty="0"/>
          </a:p>
        </p:txBody>
      </p:sp>
      <p:pic>
        <p:nvPicPr>
          <p:cNvPr id="3" name="Picture 2" descr="A screenshot of a graph&#10;&#10;Description automatically generated">
            <a:extLst>
              <a:ext uri="{FF2B5EF4-FFF2-40B4-BE49-F238E27FC236}">
                <a16:creationId xmlns:a16="http://schemas.microsoft.com/office/drawing/2014/main" id="{AF804271-CA7B-AE44-6F01-0040EB2B94AD}"/>
              </a:ext>
            </a:extLst>
          </p:cNvPr>
          <p:cNvPicPr>
            <a:picLocks noChangeAspect="1"/>
          </p:cNvPicPr>
          <p:nvPr/>
        </p:nvPicPr>
        <p:blipFill>
          <a:blip r:embed="rId2"/>
          <a:stretch>
            <a:fillRect/>
          </a:stretch>
        </p:blipFill>
        <p:spPr>
          <a:xfrm>
            <a:off x="2848006" y="1716066"/>
            <a:ext cx="5097248" cy="4114800"/>
          </a:xfrm>
          <a:prstGeom prst="rect">
            <a:avLst/>
          </a:prstGeom>
        </p:spPr>
      </p:pic>
      <p:sp>
        <p:nvSpPr>
          <p:cNvPr id="4" name="TextBox 3">
            <a:extLst>
              <a:ext uri="{FF2B5EF4-FFF2-40B4-BE49-F238E27FC236}">
                <a16:creationId xmlns:a16="http://schemas.microsoft.com/office/drawing/2014/main" id="{8DB544D5-02A5-F6F7-973B-144439B1A892}"/>
              </a:ext>
            </a:extLst>
          </p:cNvPr>
          <p:cNvSpPr txBox="1"/>
          <p:nvPr/>
        </p:nvSpPr>
        <p:spPr>
          <a:xfrm>
            <a:off x="8544838" y="1718154"/>
            <a:ext cx="3317309"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mn-lt"/>
                <a:cs typeface="+mn-lt"/>
              </a:rPr>
              <a:t>Performance Highlights:</a:t>
            </a:r>
          </a:p>
          <a:p>
            <a:r>
              <a:rPr lang="en-US" b="1" dirty="0">
                <a:ea typeface="+mn-lt"/>
                <a:cs typeface="+mn-lt"/>
              </a:rPr>
              <a:t>Strong Classes:</a:t>
            </a:r>
            <a:r>
              <a:rPr lang="en-US" dirty="0">
                <a:ea typeface="+mn-lt"/>
                <a:cs typeface="+mn-lt"/>
              </a:rPr>
              <a:t> Most of the classes showing high accuracy along diagonal.</a:t>
            </a:r>
            <a:endParaRPr lang="en-US" dirty="0"/>
          </a:p>
          <a:p>
            <a:r>
              <a:rPr lang="en-US" b="1" dirty="0">
                <a:ea typeface="+mn-lt"/>
                <a:cs typeface="+mn-lt"/>
              </a:rPr>
              <a:t>Error Patterns:</a:t>
            </a:r>
            <a:r>
              <a:rPr lang="en-US" dirty="0">
                <a:ea typeface="+mn-lt"/>
                <a:cs typeface="+mn-lt"/>
              </a:rPr>
              <a:t> Very few Misclassifications(1) in </a:t>
            </a:r>
          </a:p>
          <a:p>
            <a:r>
              <a:rPr lang="en-US" dirty="0">
                <a:ea typeface="+mn-lt"/>
                <a:cs typeface="+mn-lt"/>
              </a:rPr>
              <a:t>off-diagonal cells.</a:t>
            </a:r>
            <a:endParaRPr lang="en-US" dirty="0"/>
          </a:p>
          <a:p>
            <a:endParaRPr lang="en-US" dirty="0">
              <a:ea typeface="+mn-lt"/>
              <a:cs typeface="+mn-lt"/>
            </a:endParaRPr>
          </a:p>
          <a:p>
            <a:r>
              <a:rPr lang="en-US" b="1" dirty="0">
                <a:ea typeface="+mn-lt"/>
                <a:cs typeface="+mn-lt"/>
              </a:rPr>
              <a:t>Insights:</a:t>
            </a:r>
            <a:endParaRPr lang="en-US" dirty="0"/>
          </a:p>
          <a:p>
            <a:pPr marL="285750" indent="-285750">
              <a:buFont typeface="Arial"/>
              <a:buChar char="•"/>
            </a:pPr>
            <a:r>
              <a:rPr lang="en-US" dirty="0">
                <a:ea typeface="+mn-lt"/>
                <a:cs typeface="+mn-lt"/>
              </a:rPr>
              <a:t>Model correctly predicts most labels.</a:t>
            </a:r>
            <a:endParaRPr lang="en-US" dirty="0"/>
          </a:p>
          <a:p>
            <a:pPr marL="285750" indent="-285750">
              <a:buFont typeface="Arial"/>
              <a:buChar char="•"/>
            </a:pPr>
            <a:r>
              <a:rPr lang="en-US" dirty="0">
                <a:solidFill>
                  <a:srgbClr val="000000"/>
                </a:solidFill>
                <a:cs typeface="Arial"/>
              </a:rPr>
              <a:t>Needs optimization for classes with higher confusion.</a:t>
            </a:r>
          </a:p>
          <a:p>
            <a:pPr marL="285750" indent="-285750">
              <a:buFont typeface="Arial"/>
              <a:buChar char="•"/>
            </a:pPr>
            <a:endParaRPr lang="en-US" dirty="0">
              <a:solidFill>
                <a:srgbClr val="000000"/>
              </a:solidFill>
              <a:cs typeface="Arial"/>
            </a:endParaRPr>
          </a:p>
          <a:p>
            <a:pPr marL="228600" indent="-228600">
              <a:buFont typeface="Arial"/>
              <a:buChar char="•"/>
            </a:pPr>
            <a:endParaRPr lang="en-US" dirty="0">
              <a:solidFill>
                <a:srgbClr val="000000"/>
              </a:solidFill>
              <a:cs typeface="Arial"/>
            </a:endParaRPr>
          </a:p>
        </p:txBody>
      </p:sp>
    </p:spTree>
    <p:extLst>
      <p:ext uri="{BB962C8B-B14F-4D97-AF65-F5344CB8AC3E}">
        <p14:creationId xmlns:p14="http://schemas.microsoft.com/office/powerpoint/2010/main" val="804179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59158-0448-F62D-9E91-25FC9D540D7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E409E6E-F9D1-D8D0-D34D-8129ED50DBA2}"/>
              </a:ext>
            </a:extLst>
          </p:cNvPr>
          <p:cNvSpPr txBox="1">
            <a:spLocks/>
          </p:cNvSpPr>
          <p:nvPr/>
        </p:nvSpPr>
        <p:spPr>
          <a:xfrm>
            <a:off x="3865128" y="438945"/>
            <a:ext cx="5683328" cy="850127"/>
          </a:xfrm>
          <a:prstGeom prst="rect">
            <a:avLst/>
          </a:prstGeom>
        </p:spPr>
        <p:txBody>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t>Predict the Speaker</a:t>
            </a:r>
            <a:endParaRPr lang="en-US" dirty="0"/>
          </a:p>
        </p:txBody>
      </p:sp>
      <p:pic>
        <p:nvPicPr>
          <p:cNvPr id="6" name="Picture 5" descr="A screen shot of a computer program&#10;&#10;Description automatically generated">
            <a:extLst>
              <a:ext uri="{FF2B5EF4-FFF2-40B4-BE49-F238E27FC236}">
                <a16:creationId xmlns:a16="http://schemas.microsoft.com/office/drawing/2014/main" id="{CE456C06-F650-FAAE-DE18-B442D41974C1}"/>
              </a:ext>
            </a:extLst>
          </p:cNvPr>
          <p:cNvPicPr>
            <a:picLocks noChangeAspect="1"/>
          </p:cNvPicPr>
          <p:nvPr/>
        </p:nvPicPr>
        <p:blipFill>
          <a:blip r:embed="rId2"/>
          <a:stretch>
            <a:fillRect/>
          </a:stretch>
        </p:blipFill>
        <p:spPr>
          <a:xfrm>
            <a:off x="3162822" y="1286610"/>
            <a:ext cx="7098082" cy="2176231"/>
          </a:xfrm>
          <a:prstGeom prst="rect">
            <a:avLst/>
          </a:prstGeom>
        </p:spPr>
      </p:pic>
      <p:sp>
        <p:nvSpPr>
          <p:cNvPr id="7" name="TextBox 6">
            <a:extLst>
              <a:ext uri="{FF2B5EF4-FFF2-40B4-BE49-F238E27FC236}">
                <a16:creationId xmlns:a16="http://schemas.microsoft.com/office/drawing/2014/main" id="{9152DCF1-DF25-C3B6-2E9B-3387FB17BE43}"/>
              </a:ext>
            </a:extLst>
          </p:cNvPr>
          <p:cNvSpPr txBox="1"/>
          <p:nvPr/>
        </p:nvSpPr>
        <p:spPr>
          <a:xfrm>
            <a:off x="3273468" y="3816264"/>
            <a:ext cx="6584514"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a:ea typeface="+mn-lt"/>
                <a:cs typeface="+mn-lt"/>
              </a:rPr>
              <a:t>Prediction Output:</a:t>
            </a:r>
            <a:r>
              <a:rPr lang="en-US" dirty="0">
                <a:ea typeface="+mn-lt"/>
                <a:cs typeface="+mn-lt"/>
              </a:rPr>
              <a:t> The model correctly identified the speaker as </a:t>
            </a:r>
            <a:r>
              <a:rPr lang="en-US" b="1" dirty="0">
                <a:ea typeface="+mn-lt"/>
                <a:cs typeface="+mn-lt"/>
              </a:rPr>
              <a:t>Speaker_0007(Speaker 7)</a:t>
            </a:r>
            <a:r>
              <a:rPr lang="en-US" dirty="0">
                <a:ea typeface="+mn-lt"/>
                <a:cs typeface="+mn-lt"/>
              </a:rPr>
              <a:t> for the given audio file.</a:t>
            </a:r>
          </a:p>
          <a:p>
            <a:pPr marL="285750" indent="-285750">
              <a:buFont typeface="Arial"/>
              <a:buChar char="•"/>
            </a:pPr>
            <a:r>
              <a:rPr lang="en-US" b="1" dirty="0">
                <a:ea typeface="+mn-lt"/>
                <a:cs typeface="+mn-lt"/>
              </a:rPr>
              <a:t>Result Validation:</a:t>
            </a:r>
            <a:r>
              <a:rPr lang="en-US" dirty="0">
                <a:ea typeface="+mn-lt"/>
                <a:cs typeface="+mn-lt"/>
              </a:rPr>
              <a:t> Demonstrates the system's ability to predict speaker identity accurately with new, unseen audio data.</a:t>
            </a:r>
          </a:p>
          <a:p>
            <a:pPr marL="285750" indent="-285750">
              <a:buFont typeface="Arial"/>
              <a:buChar char="•"/>
            </a:pPr>
            <a:r>
              <a:rPr lang="en-US" b="1" dirty="0">
                <a:ea typeface="+mn-lt"/>
                <a:cs typeface="+mn-lt"/>
              </a:rPr>
              <a:t>Real-World Uses:</a:t>
            </a:r>
            <a:r>
              <a:rPr lang="en-US" dirty="0">
                <a:ea typeface="+mn-lt"/>
                <a:cs typeface="+mn-lt"/>
              </a:rPr>
              <a:t> Confirms the model's practical usability for speaker recognition tasks.</a:t>
            </a:r>
          </a:p>
          <a:p>
            <a:pPr marL="228600" indent="-228600">
              <a:buFont typeface="Arial"/>
              <a:buChar char="•"/>
            </a:pPr>
            <a:endParaRPr lang="en-US" dirty="0">
              <a:solidFill>
                <a:srgbClr val="000000"/>
              </a:solidFill>
              <a:cs typeface="Arial"/>
            </a:endParaRPr>
          </a:p>
        </p:txBody>
      </p:sp>
    </p:spTree>
    <p:extLst>
      <p:ext uri="{BB962C8B-B14F-4D97-AF65-F5344CB8AC3E}">
        <p14:creationId xmlns:p14="http://schemas.microsoft.com/office/powerpoint/2010/main" val="2758049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491B9-CAF3-5427-CAE0-5133293343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8A9C9B-2F3A-A722-E9A8-BCC2139382B8}"/>
              </a:ext>
            </a:extLst>
          </p:cNvPr>
          <p:cNvSpPr txBox="1">
            <a:spLocks/>
          </p:cNvSpPr>
          <p:nvPr/>
        </p:nvSpPr>
        <p:spPr>
          <a:xfrm>
            <a:off x="2592925" y="624110"/>
            <a:ext cx="8911687" cy="1280890"/>
          </a:xfrm>
          <a:prstGeom prst="rect">
            <a:avLst/>
          </a:prstGeom>
        </p:spPr>
        <p:txBody>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                     Future work</a:t>
            </a:r>
            <a:endParaRPr lang="en-US" dirty="0"/>
          </a:p>
        </p:txBody>
      </p:sp>
      <p:sp>
        <p:nvSpPr>
          <p:cNvPr id="3" name="Content Placeholder 2">
            <a:extLst>
              <a:ext uri="{FF2B5EF4-FFF2-40B4-BE49-F238E27FC236}">
                <a16:creationId xmlns:a16="http://schemas.microsoft.com/office/drawing/2014/main" id="{0AFC9949-651A-711F-8C6D-3CFA7EB4759D}"/>
              </a:ext>
            </a:extLst>
          </p:cNvPr>
          <p:cNvSpPr txBox="1">
            <a:spLocks/>
          </p:cNvSpPr>
          <p:nvPr/>
        </p:nvSpPr>
        <p:spPr>
          <a:xfrm>
            <a:off x="2589212" y="2133600"/>
            <a:ext cx="8915400" cy="3777622"/>
          </a:xfrm>
          <a:prstGeom prst="rect">
            <a:avLst/>
          </a:prstGeom>
        </p:spPr>
        <p:txBody>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a:t>1. Enhanced Feature Extraction :</a:t>
            </a:r>
            <a:r>
              <a:rPr lang="en-US" b="1"/>
              <a:t>Explore advanced audio features, such as spectral contrast and chroma features, to capture more detailed voice characteristics and improve recognition accuracy</a:t>
            </a:r>
          </a:p>
          <a:p>
            <a:r>
              <a:rPr lang="en-US" b="1"/>
              <a:t>2. Model Improvement:</a:t>
            </a:r>
            <a:br>
              <a:rPr lang="en-US"/>
            </a:br>
            <a:r>
              <a:rPr lang="en-US"/>
              <a:t>Experiment with advanced machine learning models like Convolutional Neural Networks (CNNs) or Recurrent Neural Networks (RNNs) tailored for audio processing.</a:t>
            </a:r>
            <a:endParaRPr lang="en-US" b="1"/>
          </a:p>
          <a:p>
            <a:r>
              <a:rPr lang="en-US" b="1"/>
              <a:t>3. System Deployment:</a:t>
            </a:r>
            <a:br>
              <a:rPr lang="en-US"/>
            </a:br>
            <a:r>
              <a:rPr lang="en-US"/>
              <a:t>Develop a real-time speaker identification application using Streamlit, enabling practical use cases such as authentication systems or personalized AI assistants.</a:t>
            </a:r>
            <a:endParaRPr lang="en-US" dirty="0"/>
          </a:p>
        </p:txBody>
      </p:sp>
    </p:spTree>
    <p:extLst>
      <p:ext uri="{BB962C8B-B14F-4D97-AF65-F5344CB8AC3E}">
        <p14:creationId xmlns:p14="http://schemas.microsoft.com/office/powerpoint/2010/main" val="3903606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268FC-13A2-51C6-4905-E4E1CDE5D8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7DB097-B964-6693-624E-58F1F1AE2F4D}"/>
              </a:ext>
            </a:extLst>
          </p:cNvPr>
          <p:cNvSpPr txBox="1">
            <a:spLocks/>
          </p:cNvSpPr>
          <p:nvPr/>
        </p:nvSpPr>
        <p:spPr>
          <a:xfrm>
            <a:off x="2592925" y="624110"/>
            <a:ext cx="8911687" cy="1280890"/>
          </a:xfrm>
          <a:prstGeom prst="rect">
            <a:avLst/>
          </a:prstGeom>
        </p:spPr>
        <p:txBody>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                      Conclusion</a:t>
            </a:r>
            <a:endParaRPr lang="en-US" dirty="0"/>
          </a:p>
        </p:txBody>
      </p:sp>
      <p:sp>
        <p:nvSpPr>
          <p:cNvPr id="3" name="Content Placeholder 2">
            <a:extLst>
              <a:ext uri="{FF2B5EF4-FFF2-40B4-BE49-F238E27FC236}">
                <a16:creationId xmlns:a16="http://schemas.microsoft.com/office/drawing/2014/main" id="{3B40CF59-AA6C-021E-301A-6075B1BCFF9B}"/>
              </a:ext>
            </a:extLst>
          </p:cNvPr>
          <p:cNvSpPr txBox="1">
            <a:spLocks/>
          </p:cNvSpPr>
          <p:nvPr/>
        </p:nvSpPr>
        <p:spPr>
          <a:xfrm>
            <a:off x="2589212" y="2133600"/>
            <a:ext cx="8915400" cy="3777622"/>
          </a:xfrm>
          <a:prstGeom prst="rect">
            <a:avLst/>
          </a:prstGeom>
        </p:spPr>
        <p:txBody>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a:t>The project demonstrated the use of MFCC and delta features for accurate speech recognition and speaker identification.</a:t>
            </a:r>
          </a:p>
          <a:p>
            <a:r>
              <a:rPr lang="en-US"/>
              <a:t>By using a logistic regression model, the system achieved significant accuracy in identifying individual speakers.</a:t>
            </a:r>
          </a:p>
          <a:p>
            <a:r>
              <a:rPr lang="en-US"/>
              <a:t>The project showcases the potential of machine learning to enhance speech-based applications, paving the way for practical and reliable solutions.</a:t>
            </a:r>
          </a:p>
          <a:p>
            <a:r>
              <a:rPr lang="en-US"/>
              <a:t>The system serves as a strong foundation for further advancements in speech recognition technologies.</a:t>
            </a:r>
            <a:endParaRPr lang="en-US" dirty="0"/>
          </a:p>
        </p:txBody>
      </p:sp>
    </p:spTree>
    <p:extLst>
      <p:ext uri="{BB962C8B-B14F-4D97-AF65-F5344CB8AC3E}">
        <p14:creationId xmlns:p14="http://schemas.microsoft.com/office/powerpoint/2010/main" val="252090149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484</TotalTime>
  <Words>978</Words>
  <Application>Microsoft Office PowerPoint</Application>
  <PresentationFormat>Widescreen</PresentationFormat>
  <Paragraphs>101</Paragraphs>
  <Slides>15</Slides>
  <Notes>6</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15</vt:i4>
      </vt:variant>
    </vt:vector>
  </HeadingPairs>
  <TitlesOfParts>
    <vt:vector size="27" baseType="lpstr">
      <vt:lpstr>Arial</vt:lpstr>
      <vt:lpstr>Arial,Sans-Serif</vt:lpstr>
      <vt:lpstr>ArialMT</vt:lpstr>
      <vt:lpstr>Bell MT</vt:lpstr>
      <vt:lpstr>Calibri</vt:lpstr>
      <vt:lpstr>Century Gothic</vt:lpstr>
      <vt:lpstr>IBM Plex Sans</vt:lpstr>
      <vt:lpstr>Nunito</vt:lpstr>
      <vt:lpstr>Segoe UI</vt:lpstr>
      <vt:lpstr>Wingdings</vt:lpstr>
      <vt:lpstr>Wingdings 3</vt:lpstr>
      <vt:lpstr>Wisp</vt:lpstr>
      <vt:lpstr>PowerPoint Presentation</vt:lpstr>
      <vt:lpstr>Introduction</vt:lpstr>
      <vt:lpstr>How do our system works?</vt:lpstr>
      <vt:lpstr>PowerPoint Presentation</vt:lpstr>
      <vt:lpstr>PowerPoint Presentation</vt:lpstr>
      <vt:lpstr>Choosing a model</vt:lpstr>
      <vt:lpstr>Logistic Regression</vt:lpstr>
      <vt:lpstr>Logistic Regression Training Algorithm</vt:lpstr>
      <vt:lpstr>Choosing a model</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Saleh Sazzad</dc:creator>
  <cp:lastModifiedBy>Saleh Sazzad</cp:lastModifiedBy>
  <cp:revision>7</cp:revision>
  <dcterms:created xsi:type="dcterms:W3CDTF">2024-11-25T06:54:23Z</dcterms:created>
  <dcterms:modified xsi:type="dcterms:W3CDTF">2024-11-26T03:59:20Z</dcterms:modified>
</cp:coreProperties>
</file>